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390E-D135-104F-5088-29C3DBBD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C1FEB-6120-2920-E9D5-1F8C3A9C1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53E3-DBE8-3174-683A-6FC082F7B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DEF24-215C-3BE2-0041-9D0BB89F4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AA435-514A-F0FA-497C-49B9994D4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770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6E55-517C-13D1-4024-ABA6B74F4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5216-B385-692B-CD49-9D870B79D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274A8-DF85-7332-24D3-526FC204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5AAE7-BDC5-1FBE-02B0-9FB5C06C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8933B-D4A1-8FE0-5593-4EE6D66C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896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B2F3-F49C-1C5D-FDBF-8ECD5175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175AA-60EC-BCDD-DF64-4720A77BE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6AACB-F034-449E-2118-F71466985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2CA5D-F6B3-0A14-E755-734C78DE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42277-CE32-8482-03C9-97224C16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72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9B6B2-0856-6ECF-2FAF-A9F4FB9C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4E67F-9AD0-9C85-3951-5F03C92FA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04E79-E53E-F083-B057-BD55305A9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78D41-A4B8-03D1-DB1B-2E25B9CF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BF930-4954-ECE1-38DF-28FD936F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9A854-4900-81E9-4C9F-75767439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966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0BE9F-DAFB-A9FE-CBF6-9C362B35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59FEC-8588-AA54-399F-81FE8B718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A0E57-3767-27FE-4E43-74755B9F4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57E63-25B4-AC9C-7354-206FEADE5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4DB3B-5CEE-FD23-2FA7-4109815EFE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81A598-D11E-1531-5CB7-DA9B80FB6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E1A008-D524-6FBE-CFFA-348EDDABE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89F9F-70F6-D0ED-FA69-52D7BAA4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678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A84C-64CC-A211-7A66-7AB1C5EC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9D721-EBDA-40EC-94DD-F399C23DF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F3A35-35BE-E9D3-E790-3A555703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C4B30-436F-4002-4D3E-8F03119F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83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F2C407-876D-EE65-4004-B00777EEC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65249-BC49-70DA-C1A7-FD1C6942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41C48-ACF2-D499-6F10-E9FD2A61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71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6372-5755-6CB4-F247-ED911321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6EB18-574C-B70C-F328-F2F811648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F8D47-3CE1-E82B-0F6D-B983713E3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88A98-421D-6ECC-B1E3-BE506AAC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63B87-EBE5-2764-F3CB-533F49EE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E8CE9-E678-529B-82EF-096087D5F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19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478E-8E64-798A-1D81-D00E51B7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8EDACE-A85C-DCD5-C8F2-CAF15543A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B36BA-8D1A-DC03-059A-492ACE45F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092CF-0101-BBCC-8751-558684A4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D9FF0-95F0-5BD8-5CC0-D5922B069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A25EE-627F-3E67-1AB4-0CC933EF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35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3904-6CBA-01FE-697B-6312CCB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1A97B-0960-FF36-D61B-8D16FB425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BCD99-608A-7E70-EB04-D5A245288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1DB79-5CEF-662D-DE57-AF376762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BD400-6ECA-16DF-CA46-CA40D5D3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44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4F311-13A5-CB55-D05B-B272FE8FCF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1874B-E7A7-B0F3-44AD-BB57DD3A0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9EB1-120A-5150-F803-B3880B9A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FA49A-C209-73C7-D77F-8F9349DD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237C1-7D30-1E53-0AA9-34048A7B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34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6C4AC-CA26-4D8C-278A-A25A6265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75BB0-E14F-2508-D5B8-6188EA937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2900B-4B6E-B3BA-50CE-49A75FA64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FE517-AC81-4E43-8C2F-746E0355E92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E93D8-131A-32C4-4A02-A264311A5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7651C-7344-B00B-B76D-C234B40BB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426C1-988E-49AB-9641-94F44F4B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98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25CBDE-8ECC-D96A-A533-BC8DBD4AEB9E}"/>
              </a:ext>
            </a:extLst>
          </p:cNvPr>
          <p:cNvSpPr/>
          <p:nvPr/>
        </p:nvSpPr>
        <p:spPr>
          <a:xfrm>
            <a:off x="3556000" y="571500"/>
            <a:ext cx="5080000" cy="355600"/>
          </a:xfrm>
          <a:prstGeom prst="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0F766E"/>
                </a:solidFill>
                <a:latin typeface="Segoe UI" panose="020B0502040204020203" pitchFamily="34" charset="0"/>
              </a:rPr>
              <a:t>Final Year Capstone Project Presentation</a:t>
            </a:r>
            <a:endParaRPr lang="en-IN" sz="1100" b="1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4530A-0433-B160-EB68-D220359B08CC}"/>
              </a:ext>
            </a:extLst>
          </p:cNvPr>
          <p:cNvSpPr txBox="1"/>
          <p:nvPr/>
        </p:nvSpPr>
        <p:spPr>
          <a:xfrm>
            <a:off x="635000" y="10795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000" b="1">
                <a:solidFill>
                  <a:srgbClr val="0F172A"/>
                </a:solidFill>
                <a:latin typeface="Segoe UI" panose="020B0502040204020203" pitchFamily="34" charset="0"/>
              </a:rPr>
              <a:t>Smart Pharmacy Supply Chain System</a:t>
            </a:r>
            <a:endParaRPr lang="en-IN" sz="3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AA474-D6E8-CA91-6956-9AE74A81DD04}"/>
              </a:ext>
            </a:extLst>
          </p:cNvPr>
          <p:cNvSpPr txBox="1"/>
          <p:nvPr/>
        </p:nvSpPr>
        <p:spPr>
          <a:xfrm>
            <a:off x="635000" y="1905000"/>
            <a:ext cx="10922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500">
                <a:solidFill>
                  <a:srgbClr val="2563EB"/>
                </a:solidFill>
                <a:latin typeface="Segoe UI" panose="020B0502040204020203" pitchFamily="34" charset="0"/>
              </a:rPr>
              <a:t>Digital Medicine Batch Tracking, FEFO Dispensing &amp; Cold-Chain Monitoring</a:t>
            </a:r>
            <a:endParaRPr lang="en-IN" sz="1500">
              <a:solidFill>
                <a:srgbClr val="2563E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5DBA6-8924-BF92-820C-CF792AC9AD39}"/>
              </a:ext>
            </a:extLst>
          </p:cNvPr>
          <p:cNvSpPr/>
          <p:nvPr/>
        </p:nvSpPr>
        <p:spPr>
          <a:xfrm>
            <a:off x="762000" y="2667000"/>
            <a:ext cx="5080000" cy="330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00FDE-4A16-0192-86F3-363DACB30D8E}"/>
              </a:ext>
            </a:extLst>
          </p:cNvPr>
          <p:cNvSpPr txBox="1"/>
          <p:nvPr/>
        </p:nvSpPr>
        <p:spPr>
          <a:xfrm>
            <a:off x="1016000" y="2857500"/>
            <a:ext cx="4572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600" b="1">
                <a:solidFill>
                  <a:srgbClr val="0D9488"/>
                </a:solidFill>
                <a:latin typeface="Segoe UI" panose="020B0502040204020203" pitchFamily="34" charset="0"/>
              </a:rPr>
              <a:t>Student Details
Student 1: Shudiksha Sugeerthanaa
Register Number: 44731123
Student 2: Sofiya S
Register Number: 44731112
Team ID: CSE-AI-CAP-2026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DF30-E911-8E00-87FC-D0359C893C6E}"/>
              </a:ext>
            </a:extLst>
          </p:cNvPr>
          <p:cNvSpPr/>
          <p:nvPr/>
        </p:nvSpPr>
        <p:spPr>
          <a:xfrm>
            <a:off x="6350000" y="2667000"/>
            <a:ext cx="5080000" cy="330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B47F7-ED43-DAF7-C7CA-54B46B77D63D}"/>
              </a:ext>
            </a:extLst>
          </p:cNvPr>
          <p:cNvSpPr txBox="1"/>
          <p:nvPr/>
        </p:nvSpPr>
        <p:spPr>
          <a:xfrm>
            <a:off x="6604000" y="2857500"/>
            <a:ext cx="4572000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2563EB"/>
                </a:solidFill>
                <a:latin typeface="Segoe UI" panose="020B0502040204020203" pitchFamily="34" charset="0"/>
              </a:rPr>
              <a:t>Academic Details
Department:
B.E. Computer Science &amp; Engineering (AI)
Institution:
Sathyabama Institute of Science and Technology (SIST)
Academic Year:
2026 - 2027</a:t>
            </a:r>
            <a:endParaRPr lang="en-IN" sz="1600" b="1" dirty="0">
              <a:solidFill>
                <a:srgbClr val="2563E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28229-9610-F9D5-BB8E-267E4EA6103B}"/>
              </a:ext>
            </a:extLst>
          </p:cNvPr>
          <p:cNvSpPr txBox="1"/>
          <p:nvPr/>
        </p:nvSpPr>
        <p:spPr>
          <a:xfrm>
            <a:off x="635000" y="6223000"/>
            <a:ext cx="1092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B.E. Computer Science &amp; Engineering (Artificial Intelligence) Capstone Viva</a:t>
            </a:r>
          </a:p>
        </p:txBody>
      </p:sp>
    </p:spTree>
    <p:extLst>
      <p:ext uri="{BB962C8B-B14F-4D97-AF65-F5344CB8AC3E}">
        <p14:creationId xmlns:p14="http://schemas.microsoft.com/office/powerpoint/2010/main" val="2221312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2AFB97-6168-24B1-3E33-0E5E6F9461C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4883D-FA5A-965A-E1EB-DFFBB294829B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INTRODUCTION &amp; DOMAIN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FA741-B90C-0B1A-BD3D-C0E01914187D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Segoe UI" panose="020B0502040204020203" pitchFamily="34" charset="0"/>
              </a:rPr>
              <a:t>What is a Pharmacy Supply Chain?</a:t>
            </a:r>
            <a:endParaRPr lang="en-IN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ADF33-FB7A-7CB0-8C81-056EAA9C1647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2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378C8-7004-A2B0-136E-1F07D2AEFBA3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598A2C-DF9B-CA14-B57E-11357E299D3C}"/>
              </a:ext>
            </a:extLst>
          </p:cNvPr>
          <p:cNvSpPr/>
          <p:nvPr/>
        </p:nvSpPr>
        <p:spPr>
          <a:xfrm>
            <a:off x="508000" y="952500"/>
            <a:ext cx="11176000" cy="5080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F2FEA0-622E-52B8-DF94-AF089C205848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A pharmacy supply chain is the step-by-step process of how medicines travel safely from pharmaceutical manufacturers to hospital pharmacies and patients.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36A5EA-4155-F3D9-F671-3791A444B421}"/>
              </a:ext>
            </a:extLst>
          </p:cNvPr>
          <p:cNvSpPr/>
          <p:nvPr/>
        </p:nvSpPr>
        <p:spPr>
          <a:xfrm>
            <a:off x="508000" y="1587500"/>
            <a:ext cx="3556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55AC9E-B21C-CD02-3672-EE841B93E1FB}"/>
              </a:ext>
            </a:extLst>
          </p:cNvPr>
          <p:cNvSpPr txBox="1"/>
          <p:nvPr/>
        </p:nvSpPr>
        <p:spPr>
          <a:xfrm>
            <a:off x="685800" y="17145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1. Manufacturer
Produces pharmaceutical drugs in discrete batches with fixed manufacturing and expiry dates.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C31F46-0FF2-C4ED-A5CC-C1B0B4275637}"/>
              </a:ext>
            </a:extLst>
          </p:cNvPr>
          <p:cNvSpPr/>
          <p:nvPr/>
        </p:nvSpPr>
        <p:spPr>
          <a:xfrm>
            <a:off x="4318000" y="1587500"/>
            <a:ext cx="3556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08DA49-5EB5-ABE0-E101-16154953ABD5}"/>
              </a:ext>
            </a:extLst>
          </p:cNvPr>
          <p:cNvSpPr txBox="1"/>
          <p:nvPr/>
        </p:nvSpPr>
        <p:spPr>
          <a:xfrm>
            <a:off x="4495800" y="17145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2. Distributor / Supplier
Transports medicine boxes to hospitals while maintaining safe temperature standards.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BD7227-A25D-A659-4121-C0A0AADA7F5D}"/>
              </a:ext>
            </a:extLst>
          </p:cNvPr>
          <p:cNvSpPr/>
          <p:nvPr/>
        </p:nvSpPr>
        <p:spPr>
          <a:xfrm>
            <a:off x="8128000" y="1587500"/>
            <a:ext cx="3556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387D5-B5A2-A7BC-3D27-E42135955436}"/>
              </a:ext>
            </a:extLst>
          </p:cNvPr>
          <p:cNvSpPr txBox="1"/>
          <p:nvPr/>
        </p:nvSpPr>
        <p:spPr>
          <a:xfrm>
            <a:off x="8305800" y="17145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3. Hospital Pharmacy
Stores stock safely, checks expiry, and dispenses the right medicine batch to patients.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890587-3FF1-1008-303A-CA59E4B7F14C}"/>
              </a:ext>
            </a:extLst>
          </p:cNvPr>
          <p:cNvSpPr/>
          <p:nvPr/>
        </p:nvSpPr>
        <p:spPr>
          <a:xfrm>
            <a:off x="508000" y="3810000"/>
            <a:ext cx="11176000" cy="24765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C80F7D-93EB-816D-4B8E-E9ACE2ABECC7}"/>
              </a:ext>
            </a:extLst>
          </p:cNvPr>
          <p:cNvSpPr txBox="1"/>
          <p:nvPr/>
        </p:nvSpPr>
        <p:spPr>
          <a:xfrm>
            <a:off x="698500" y="3937000"/>
            <a:ext cx="10795000" cy="14927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Why is Proper Tracking Important?
Patient Safety: Patients must never receive an expired, compromised, or counterfeit drug.
Drug Potency: Temperature-sensitive medicines like Insulin lose strength if stored in the wrong temperature.
Preventing Losses: Using medicines in the correct order prevents medicines from expiring on pharmacy shelves.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2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DBF067-0567-63D2-0A50-9586AE44CD7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A26AA-BFCF-CCCD-C6E5-A2A65742FA13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91287-6BC5-6D26-231F-5904A20EF4AF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Real-World Pharmacy Inefficiencies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8C9C62-1457-F8A5-0630-93FA507DC1B3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3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D1ADF-B602-BFC1-090B-63B0C4C86969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D4D533-2CCB-0DA7-E86D-678CCF45BF72}"/>
              </a:ext>
            </a:extLst>
          </p:cNvPr>
          <p:cNvSpPr/>
          <p:nvPr/>
        </p:nvSpPr>
        <p:spPr>
          <a:xfrm>
            <a:off x="508000" y="952500"/>
            <a:ext cx="11176000" cy="4318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E7BA8-3C90-A0BC-8212-02AD14177606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Hospital pharmacies face 5 major practical challenges that cause medical and financial losses: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65DBEF-3F48-E0C6-0434-F29211B0F8E9}"/>
              </a:ext>
            </a:extLst>
          </p:cNvPr>
          <p:cNvSpPr/>
          <p:nvPr/>
        </p:nvSpPr>
        <p:spPr>
          <a:xfrm>
            <a:off x="508000" y="15240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29E46D-0BDE-5116-791F-A2DDD47DDEF6}"/>
              </a:ext>
            </a:extLst>
          </p:cNvPr>
          <p:cNvSpPr txBox="1"/>
          <p:nvPr/>
        </p:nvSpPr>
        <p:spPr>
          <a:xfrm>
            <a:off x="685800" y="1651000"/>
            <a:ext cx="5105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1. High Medicine Expiry Wastage
Medicines often sit unnoticed in storage racks and expire before staff realizes they need to be used.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8C46B8-E38B-46D5-A66C-F2A9EEB81E22}"/>
              </a:ext>
            </a:extLst>
          </p:cNvPr>
          <p:cNvSpPr/>
          <p:nvPr/>
        </p:nvSpPr>
        <p:spPr>
          <a:xfrm>
            <a:off x="6223000" y="15240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CE1FD2-5999-936C-948C-52FBE8A7AB84}"/>
              </a:ext>
            </a:extLst>
          </p:cNvPr>
          <p:cNvSpPr txBox="1"/>
          <p:nvPr/>
        </p:nvSpPr>
        <p:spPr>
          <a:xfrm>
            <a:off x="6400800" y="1651000"/>
            <a:ext cx="5105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2. Random Dispensing Order
Staff naturally pick the newest boxes in front, leaving older batches behind to expire unnoticed.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1FA45A-C554-2C89-82ED-AFE07BBBD742}"/>
              </a:ext>
            </a:extLst>
          </p:cNvPr>
          <p:cNvSpPr/>
          <p:nvPr/>
        </p:nvSpPr>
        <p:spPr>
          <a:xfrm>
            <a:off x="508000" y="33020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273B33-1BF3-6844-99C2-80F1B7B5445C}"/>
              </a:ext>
            </a:extLst>
          </p:cNvPr>
          <p:cNvSpPr txBox="1"/>
          <p:nvPr/>
        </p:nvSpPr>
        <p:spPr>
          <a:xfrm>
            <a:off x="685800" y="3429000"/>
            <a:ext cx="5105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3. Unmonitored Cold-Chain Storage
Medicines like Insulin or Vaccines spoil if refrigerators get too warm, but temperature checks are rarely automated.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B5F47B-F5C4-7330-F5A1-990AC1CC09B5}"/>
              </a:ext>
            </a:extLst>
          </p:cNvPr>
          <p:cNvSpPr/>
          <p:nvPr/>
        </p:nvSpPr>
        <p:spPr>
          <a:xfrm>
            <a:off x="6223000" y="33020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219FCB-EFDF-53C3-DD9C-827722518416}"/>
              </a:ext>
            </a:extLst>
          </p:cNvPr>
          <p:cNvSpPr txBox="1"/>
          <p:nvPr/>
        </p:nvSpPr>
        <p:spPr>
          <a:xfrm>
            <a:off x="6400800" y="3429000"/>
            <a:ext cx="5105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4. Counterfeit Medicine Risks
Unverified or fake medicine batches can enter the hospital supply chain without a quick verification tool.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3E045B-5FEC-AF19-C088-BCA937269D98}"/>
              </a:ext>
            </a:extLst>
          </p:cNvPr>
          <p:cNvSpPr/>
          <p:nvPr/>
        </p:nvSpPr>
        <p:spPr>
          <a:xfrm>
            <a:off x="508000" y="5080000"/>
            <a:ext cx="11176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89D238-BBB0-0B3C-FB38-F547BF4F57B7}"/>
              </a:ext>
            </a:extLst>
          </p:cNvPr>
          <p:cNvSpPr txBox="1"/>
          <p:nvPr/>
        </p:nvSpPr>
        <p:spPr>
          <a:xfrm>
            <a:off x="685800" y="5207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5. Manual Inventory Errors
Paper-based stock logs lead to human counting mistakes, stock-outs during emergencies, and missing batches.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630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F6D105-5EDC-FF7C-D7F8-C1F088F9EC7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EFB81-056F-4B31-E37C-DEF733B2A953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EXISTING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14570-C93C-20F4-24E3-D2C05B687E92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The Traditional Manual Approach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02CF2D-9648-8ACB-9C97-65ABA2B43DFA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4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4C8F70-1B24-3D24-FC34-C958B9179C1A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14E51F-C381-5B5B-37E2-C716BB738AEC}"/>
              </a:ext>
            </a:extLst>
          </p:cNvPr>
          <p:cNvSpPr/>
          <p:nvPr/>
        </p:nvSpPr>
        <p:spPr>
          <a:xfrm>
            <a:off x="508000" y="952500"/>
            <a:ext cx="11176000" cy="4318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15AFF-0374-D9E5-9C85-DD7F24998264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Most small and medium pharmacies still rely on paper registers or basic Excel spreadsheets.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2FDC114-B123-EF0B-A541-0AA0C29F3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743526"/>
              </p:ext>
            </p:extLst>
          </p:nvPr>
        </p:nvGraphicFramePr>
        <p:xfrm>
          <a:off x="508000" y="1524000"/>
          <a:ext cx="11430000" cy="4699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419430500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592228066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592324479"/>
                    </a:ext>
                  </a:extLst>
                </a:gridCol>
              </a:tblGrid>
              <a:tr h="783167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Pharmacy Task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Existing Manual Method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Major Bottleneck / Risk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881678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Stock Recording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Writing medicine entries by hand in paper books.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Handwriting errors, lost pages, slow searches.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629074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Expiry Tracking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Staff manually read tiny printed dates on boxes every month.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Easy to miss boxes; expired stock given to patients.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041118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Medicine Dispensing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Pharmacist grabs whichever bottle is nearest on shelf.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Violates FEFO; older stock expires on the shelf.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774913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Temperature Checks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Manual thermometer readings logged on a clipboard.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No instant alerts when a refrigerator fails at night.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000406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Batch Verification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Phone calls or paper invoice checks with suppliers.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Slow process; counterfeit drugs cannot be caught fast.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018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25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4056E4-25C2-270C-751F-4EDE041304A3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694A7-F923-B4EA-812F-060FF0B637C3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EE0E2-926C-2597-2E32-1A1D4C7D14BA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Our Centralized 3-Tier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E0C6C8-4410-A508-9DE4-3C61BAED251D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5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1D5BA0-B56D-EB40-0216-05F3C81EEF60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9B6D0D-CF88-E1DD-12BA-06CE7CF5734E}"/>
              </a:ext>
            </a:extLst>
          </p:cNvPr>
          <p:cNvSpPr/>
          <p:nvPr/>
        </p:nvSpPr>
        <p:spPr>
          <a:xfrm>
            <a:off x="508000" y="952500"/>
            <a:ext cx="11176000" cy="4318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B1800-F333-B66D-2276-DEB55C97B1DE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We built a clean, centralized web application that automates pharmacy operations in 3 simple tiers: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D7B151-4A75-0D13-1E69-5D963A36BEDE}"/>
              </a:ext>
            </a:extLst>
          </p:cNvPr>
          <p:cNvSpPr/>
          <p:nvPr/>
        </p:nvSpPr>
        <p:spPr>
          <a:xfrm>
            <a:off x="508000" y="1524000"/>
            <a:ext cx="3302000" cy="11430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D6EC26-CBE9-F04C-FA77-C1AD121AD563}"/>
              </a:ext>
            </a:extLst>
          </p:cNvPr>
          <p:cNvSpPr txBox="1"/>
          <p:nvPr/>
        </p:nvSpPr>
        <p:spPr>
          <a:xfrm>
            <a:off x="635000" y="1587500"/>
            <a:ext cx="304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0F766E"/>
                </a:solidFill>
                <a:latin typeface="Segoe UI" panose="020B0502040204020203" pitchFamily="34" charset="0"/>
              </a:rPr>
              <a:t>Tier 1: Frontend
HTML5 / CSS3 / Vanilla JS
Clean UI screen staff uses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379F96-D8CD-6F6D-86C6-82696C3B69B6}"/>
              </a:ext>
            </a:extLst>
          </p:cNvPr>
          <p:cNvSpPr txBox="1"/>
          <p:nvPr/>
        </p:nvSpPr>
        <p:spPr>
          <a:xfrm>
            <a:off x="3937000" y="1905000"/>
            <a:ext cx="381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1BF891-0375-F6AD-FF06-92242ACCE40B}"/>
              </a:ext>
            </a:extLst>
          </p:cNvPr>
          <p:cNvSpPr/>
          <p:nvPr/>
        </p:nvSpPr>
        <p:spPr>
          <a:xfrm>
            <a:off x="4445000" y="1524000"/>
            <a:ext cx="3302000" cy="11430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69EE82-FB74-E2B1-AA26-CFF7F76F57EB}"/>
              </a:ext>
            </a:extLst>
          </p:cNvPr>
          <p:cNvSpPr txBox="1"/>
          <p:nvPr/>
        </p:nvSpPr>
        <p:spPr>
          <a:xfrm>
            <a:off x="4572000" y="1587500"/>
            <a:ext cx="304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0F766E"/>
                </a:solidFill>
                <a:latin typeface="Segoe UI" panose="020B0502040204020203" pitchFamily="34" charset="0"/>
              </a:rPr>
              <a:t>Tier 2: Backend
Java Spring Boot 3 REST API
Executes FEFO &amp; check logic</a:t>
            </a:r>
            <a:endParaRPr lang="en-IN" sz="1200" b="1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6BD1E4-5D1A-ECCC-A5A9-B6EB9DA0FC23}"/>
              </a:ext>
            </a:extLst>
          </p:cNvPr>
          <p:cNvSpPr txBox="1"/>
          <p:nvPr/>
        </p:nvSpPr>
        <p:spPr>
          <a:xfrm>
            <a:off x="7874000" y="1905000"/>
            <a:ext cx="381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30AEA6-2BE0-53AE-57A4-FD54A96ED68C}"/>
              </a:ext>
            </a:extLst>
          </p:cNvPr>
          <p:cNvSpPr/>
          <p:nvPr/>
        </p:nvSpPr>
        <p:spPr>
          <a:xfrm>
            <a:off x="8382000" y="1524000"/>
            <a:ext cx="3302000" cy="11430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D714A7-EB06-5D5C-102D-9B06367758F9}"/>
              </a:ext>
            </a:extLst>
          </p:cNvPr>
          <p:cNvSpPr txBox="1"/>
          <p:nvPr/>
        </p:nvSpPr>
        <p:spPr>
          <a:xfrm>
            <a:off x="8509000" y="1587500"/>
            <a:ext cx="304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0F766E"/>
                </a:solidFill>
                <a:latin typeface="Segoe UI" panose="020B0502040204020203" pitchFamily="34" charset="0"/>
              </a:rPr>
              <a:t>Tier 3: Database
MySQL 8.0 Relational DB
Safely stores all pharmacy data</a:t>
            </a:r>
            <a:endParaRPr lang="en-IN" sz="1200" b="1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ADECE8-0CE6-103B-935B-4ADF595CDAF7}"/>
              </a:ext>
            </a:extLst>
          </p:cNvPr>
          <p:cNvSpPr/>
          <p:nvPr/>
        </p:nvSpPr>
        <p:spPr>
          <a:xfrm>
            <a:off x="508000" y="2921000"/>
            <a:ext cx="5461000" cy="336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62BAC2-5498-60D6-580B-5C4DB78DE3DB}"/>
              </a:ext>
            </a:extLst>
          </p:cNvPr>
          <p:cNvSpPr txBox="1"/>
          <p:nvPr/>
        </p:nvSpPr>
        <p:spPr>
          <a:xfrm>
            <a:off x="685800" y="3048000"/>
            <a:ext cx="5105400" cy="12003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What Our System Does Automatically
- Picks the earliest expiring batch automatically when dispensing (FEFO).
- Calculates expiry alerts at 90, 60, and 30 days before expiry.
- Locks expired and rejected batches so they cannot be dispensed.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A173B3-8408-7C26-E8F0-53BC0485BB61}"/>
              </a:ext>
            </a:extLst>
          </p:cNvPr>
          <p:cNvSpPr/>
          <p:nvPr/>
        </p:nvSpPr>
        <p:spPr>
          <a:xfrm>
            <a:off x="6223000" y="2921000"/>
            <a:ext cx="5461000" cy="336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6A0D33-B2DC-FF97-03B8-4A6567BCF87C}"/>
              </a:ext>
            </a:extLst>
          </p:cNvPr>
          <p:cNvSpPr txBox="1"/>
          <p:nvPr/>
        </p:nvSpPr>
        <p:spPr>
          <a:xfrm>
            <a:off x="6400800" y="3048000"/>
            <a:ext cx="5105400" cy="12003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Key Safety Guarantees
- Instantly flags cold-chain temperature readings that are outside safety limits.
- Checks batch numbers against authentic records to stop counterfeit drugs.
- Keeps an itemized digital receipt for every medicine dispensed.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812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F89564-A9B5-23DA-EB4D-24BB2DC228A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3E431-EF9C-29AF-EB39-8FCDDCB1F304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289E8-83AD-5696-A8A8-BFBFED2F83CF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SMART Project 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8FECCF-6E31-F6B5-83C8-9C4C55EF0A5A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6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F7942-09E0-7AFC-2C5C-FAB889E2C2BA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135D3-F9F2-BF37-7BD0-6B8C1F165804}"/>
              </a:ext>
            </a:extLst>
          </p:cNvPr>
          <p:cNvSpPr/>
          <p:nvPr/>
        </p:nvSpPr>
        <p:spPr>
          <a:xfrm>
            <a:off x="508000" y="952500"/>
            <a:ext cx="11176000" cy="4318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E6C7C-22A2-96FF-9B87-B7E8B19FBE96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Our project was developed with clear, measurable goals designed for real hospital pharmacies: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8F83A-B871-934A-656A-BECF34593030}"/>
              </a:ext>
            </a:extLst>
          </p:cNvPr>
          <p:cNvSpPr/>
          <p:nvPr/>
        </p:nvSpPr>
        <p:spPr>
          <a:xfrm>
            <a:off x="508000" y="15240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302BCB-6347-E949-B7D3-2946216E140F}"/>
              </a:ext>
            </a:extLst>
          </p:cNvPr>
          <p:cNvSpPr txBox="1"/>
          <p:nvPr/>
        </p:nvSpPr>
        <p:spPr>
          <a:xfrm>
            <a:off x="685800" y="1651000"/>
            <a:ext cx="5105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1. Digital Batch Tracking
Track every physical batch with unique batch number, medicine name, manufacturer, supplier, and expiry date.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8D7656-8A81-7A19-7D60-7684A56EF06E}"/>
              </a:ext>
            </a:extLst>
          </p:cNvPr>
          <p:cNvSpPr/>
          <p:nvPr/>
        </p:nvSpPr>
        <p:spPr>
          <a:xfrm>
            <a:off x="6223000" y="15240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495DDF-9CB3-7EFF-7D2B-AE8E13868DB1}"/>
              </a:ext>
            </a:extLst>
          </p:cNvPr>
          <p:cNvSpPr txBox="1"/>
          <p:nvPr/>
        </p:nvSpPr>
        <p:spPr>
          <a:xfrm>
            <a:off x="6400800" y="1651000"/>
            <a:ext cx="5105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2. Strict FEFO Dispensing
Enforce 100% First-Expired-First-Out dispensing logic so older authentic batches are always issued first.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A90CFA-64B1-D360-63D3-14CBFC6FE547}"/>
              </a:ext>
            </a:extLst>
          </p:cNvPr>
          <p:cNvSpPr/>
          <p:nvPr/>
        </p:nvSpPr>
        <p:spPr>
          <a:xfrm>
            <a:off x="508000" y="33020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77F3FB-E58D-5BB1-BFCB-A247414F46CD}"/>
              </a:ext>
            </a:extLst>
          </p:cNvPr>
          <p:cNvSpPr txBox="1"/>
          <p:nvPr/>
        </p:nvSpPr>
        <p:spPr>
          <a:xfrm>
            <a:off x="685800" y="3429000"/>
            <a:ext cx="5105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3. Multi-Tier Expiry Radar
Categorize inventory into Expired, 30-day (Critical), 60-day (Warning), and 90-day (Notice) alert windows.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BE0462-22DB-C5BE-6387-16D6427392CE}"/>
              </a:ext>
            </a:extLst>
          </p:cNvPr>
          <p:cNvSpPr/>
          <p:nvPr/>
        </p:nvSpPr>
        <p:spPr>
          <a:xfrm>
            <a:off x="6223000" y="33020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2750AE-3BD4-010C-FB0A-3BBEE9631417}"/>
              </a:ext>
            </a:extLst>
          </p:cNvPr>
          <p:cNvSpPr txBox="1"/>
          <p:nvPr/>
        </p:nvSpPr>
        <p:spPr>
          <a:xfrm>
            <a:off x="6400800" y="3429000"/>
            <a:ext cx="5105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4. Cold-Chain Compliance Checking
Validate thermal sensor readings against medicine temperature ranges (e.g. 2C to 8C for Insulin).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599784-5CDD-9D15-BCDF-31A554B9B291}"/>
              </a:ext>
            </a:extLst>
          </p:cNvPr>
          <p:cNvSpPr/>
          <p:nvPr/>
        </p:nvSpPr>
        <p:spPr>
          <a:xfrm>
            <a:off x="508000" y="5080000"/>
            <a:ext cx="11176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1CC7E8-EE38-B89C-9422-A12AC51828CA}"/>
              </a:ext>
            </a:extLst>
          </p:cNvPr>
          <p:cNvSpPr txBox="1"/>
          <p:nvPr/>
        </p:nvSpPr>
        <p:spPr>
          <a:xfrm>
            <a:off x="685800" y="5207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5. Anti-Counterfeit Batch Verification
Verify whether a batch is VERIFIED, UNVERIFIED, REJECTED, or NOT FOUND with 1-click verify and reject actions.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383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E09F93-8FEE-7493-9E28-9D370B8ADC9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3D873-D9DB-AF15-22ED-A55AF436920E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61152-88AD-818B-4136-0D5F4A4581D0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8 Key Features Implemented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A57CA7-E566-F8B7-CBBF-B884785CD857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7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B7586-A2F4-58EC-6C15-FC3DA5401472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18A805-52DE-D43D-013E-3B558BB2DE6C}"/>
              </a:ext>
            </a:extLst>
          </p:cNvPr>
          <p:cNvSpPr/>
          <p:nvPr/>
        </p:nvSpPr>
        <p:spPr>
          <a:xfrm>
            <a:off x="508000" y="1079500"/>
            <a:ext cx="2667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ADC5CC-D8B5-F9B5-ABB4-DEF085EAA923}"/>
              </a:ext>
            </a:extLst>
          </p:cNvPr>
          <p:cNvSpPr txBox="1"/>
          <p:nvPr/>
        </p:nvSpPr>
        <p:spPr>
          <a:xfrm>
            <a:off x="685800" y="1206500"/>
            <a:ext cx="23114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1. Medicines
Add and edit catalog drugs with brand name, dosage, and min/max temperature limits.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41FBB4-A8A6-89B6-CA43-94C9EAA13F1E}"/>
              </a:ext>
            </a:extLst>
          </p:cNvPr>
          <p:cNvSpPr/>
          <p:nvPr/>
        </p:nvSpPr>
        <p:spPr>
          <a:xfrm>
            <a:off x="3340100" y="1079500"/>
            <a:ext cx="2667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47846-79B6-E358-95EF-DFBFE9E73B81}"/>
              </a:ext>
            </a:extLst>
          </p:cNvPr>
          <p:cNvSpPr txBox="1"/>
          <p:nvPr/>
        </p:nvSpPr>
        <p:spPr>
          <a:xfrm>
            <a:off x="3517900" y="1206500"/>
            <a:ext cx="23114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2. Suppliers
Maintain verified manufacturer and vendor contacts, phones, and warehouse addresses.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B440A6-C6AC-3560-0DA1-0EFF8D586545}"/>
              </a:ext>
            </a:extLst>
          </p:cNvPr>
          <p:cNvSpPr/>
          <p:nvPr/>
        </p:nvSpPr>
        <p:spPr>
          <a:xfrm>
            <a:off x="6172200" y="1079500"/>
            <a:ext cx="2667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296EC3-9C41-D1D3-9030-2B7415D203CF}"/>
              </a:ext>
            </a:extLst>
          </p:cNvPr>
          <p:cNvSpPr txBox="1"/>
          <p:nvPr/>
        </p:nvSpPr>
        <p:spPr>
          <a:xfrm>
            <a:off x="6350000" y="1206500"/>
            <a:ext cx="23114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3. Batches
Track discrete batches with unique IDs, quantities, and manufacturing &amp; expiry dates.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BEB444-7FE0-574B-A0F4-195B5AB9B39D}"/>
              </a:ext>
            </a:extLst>
          </p:cNvPr>
          <p:cNvSpPr/>
          <p:nvPr/>
        </p:nvSpPr>
        <p:spPr>
          <a:xfrm>
            <a:off x="9004300" y="1079500"/>
            <a:ext cx="2667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7267BA-C495-B064-6196-F8056043643B}"/>
              </a:ext>
            </a:extLst>
          </p:cNvPr>
          <p:cNvSpPr txBox="1"/>
          <p:nvPr/>
        </p:nvSpPr>
        <p:spPr>
          <a:xfrm>
            <a:off x="9182100" y="1206500"/>
            <a:ext cx="2311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4. FEFO Dispense
Core engine: automatically selects earliest expiring batch and updates stock balances.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56899F-2AD1-FB01-B229-AD82DADE5644}"/>
              </a:ext>
            </a:extLst>
          </p:cNvPr>
          <p:cNvSpPr/>
          <p:nvPr/>
        </p:nvSpPr>
        <p:spPr>
          <a:xfrm>
            <a:off x="508000" y="3746500"/>
            <a:ext cx="2667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41DB1-BABA-40F4-6FC9-A1A4A64A6EC9}"/>
              </a:ext>
            </a:extLst>
          </p:cNvPr>
          <p:cNvSpPr txBox="1"/>
          <p:nvPr/>
        </p:nvSpPr>
        <p:spPr>
          <a:xfrm>
            <a:off x="685800" y="3873500"/>
            <a:ext cx="2311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5. Expiry Radar
Alerts tab filtering batches into Expired, 30 days, 60 days, and 90 days remaining.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B953FC-CD1C-9DA6-63CC-FF76A3D1E25E}"/>
              </a:ext>
            </a:extLst>
          </p:cNvPr>
          <p:cNvSpPr/>
          <p:nvPr/>
        </p:nvSpPr>
        <p:spPr>
          <a:xfrm>
            <a:off x="3340100" y="3746500"/>
            <a:ext cx="2667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52254A-779E-FFB7-2583-52C2BED8AEBD}"/>
              </a:ext>
            </a:extLst>
          </p:cNvPr>
          <p:cNvSpPr txBox="1"/>
          <p:nvPr/>
        </p:nvSpPr>
        <p:spPr>
          <a:xfrm>
            <a:off x="3517900" y="3873500"/>
            <a:ext cx="23114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6. Temp Logger
Evaluates sensor readings: flags COMPLIANT or OUT_OF_RANGE with diagnostic alerts.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4676B6-74FB-D0C8-0B44-67B5F22511C0}"/>
              </a:ext>
            </a:extLst>
          </p:cNvPr>
          <p:cNvSpPr/>
          <p:nvPr/>
        </p:nvSpPr>
        <p:spPr>
          <a:xfrm>
            <a:off x="6172200" y="3746500"/>
            <a:ext cx="2667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5CABAB-DAEA-70A9-D4DD-02EF4CDF1083}"/>
              </a:ext>
            </a:extLst>
          </p:cNvPr>
          <p:cNvSpPr txBox="1"/>
          <p:nvPr/>
        </p:nvSpPr>
        <p:spPr>
          <a:xfrm>
            <a:off x="6350000" y="3873500"/>
            <a:ext cx="2311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7. Verification
Scans batch numbers to detect counterfeit drugs with 1-click Verify/Reject controls.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172DF0-248A-5F41-2554-CBF20ACEC67D}"/>
              </a:ext>
            </a:extLst>
          </p:cNvPr>
          <p:cNvSpPr/>
          <p:nvPr/>
        </p:nvSpPr>
        <p:spPr>
          <a:xfrm>
            <a:off x="9004300" y="3746500"/>
            <a:ext cx="2667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B7DC03-C4ED-7BFE-62BD-A286E2E0E794}"/>
              </a:ext>
            </a:extLst>
          </p:cNvPr>
          <p:cNvSpPr txBox="1"/>
          <p:nvPr/>
        </p:nvSpPr>
        <p:spPr>
          <a:xfrm>
            <a:off x="9182100" y="3873500"/>
            <a:ext cx="2311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8. Dashboard
5 live KPI summary counters and 3 real-time alert tables without heavy charts.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98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F8E904-E6F4-D677-A2A1-3A0622CD880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7A794-0D02-0988-4596-88BAEE964FB8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TECH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ED9EA7-6CE5-F9C7-43EF-9C8B61B72A8A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Technology Stack Breakdown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CBFA27-5854-6DC2-BC55-97203C31B8DE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8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847EB-3EBA-4C2B-BE1E-C155CC8EBFBE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E3E47-5EED-7210-2A48-AA8790198DBE}"/>
              </a:ext>
            </a:extLst>
          </p:cNvPr>
          <p:cNvSpPr/>
          <p:nvPr/>
        </p:nvSpPr>
        <p:spPr>
          <a:xfrm>
            <a:off x="508000" y="1079500"/>
            <a:ext cx="5461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16528-1369-1D1A-D0B9-4702E491635E}"/>
              </a:ext>
            </a:extLst>
          </p:cNvPr>
          <p:cNvSpPr txBox="1"/>
          <p:nvPr/>
        </p:nvSpPr>
        <p:spPr>
          <a:xfrm>
            <a:off x="685800" y="1206500"/>
            <a:ext cx="5105400" cy="18004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300" b="1">
                <a:solidFill>
                  <a:srgbClr val="0F172A"/>
                </a:solidFill>
                <a:latin typeface="Segoe UI" panose="020B0502040204020203" pitchFamily="34" charset="0"/>
              </a:rPr>
              <a:t>Frontend (Client Tier)
â€¢ HTML5: Semantic layout structure (&lt;header&gt;, &lt;nav&gt;, &lt;main&gt;, &lt;table&gt;).
â€¢ CSS3: Custom clinical design system using CSS Grid &amp; Flexbox (no Tailwind, no Bootstrap).
â€¢ Vanilla JavaScript (ES6+): Clean browser logic without heavy React or Angular dependencies.
â€¢ Fetch API: Asynchronous JSON HTTP calls connecting to the backend.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CC2AF6-2039-54E0-6285-FA43B40457B7}"/>
              </a:ext>
            </a:extLst>
          </p:cNvPr>
          <p:cNvSpPr/>
          <p:nvPr/>
        </p:nvSpPr>
        <p:spPr>
          <a:xfrm>
            <a:off x="6223000" y="1079500"/>
            <a:ext cx="5461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CE7E4F-B989-4B75-5DEF-3C3DAE6BCFBE}"/>
              </a:ext>
            </a:extLst>
          </p:cNvPr>
          <p:cNvSpPr txBox="1"/>
          <p:nvPr/>
        </p:nvSpPr>
        <p:spPr>
          <a:xfrm>
            <a:off x="6400800" y="1206500"/>
            <a:ext cx="5105400" cy="18004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300" b="1">
                <a:solidFill>
                  <a:srgbClr val="0F172A"/>
                </a:solidFill>
                <a:latin typeface="Segoe UI" panose="020B0502040204020203" pitchFamily="34" charset="0"/>
              </a:rPr>
              <a:t>Backend (Application Tier)
â€¢ Java 17: Modern, secure, object-oriented programming language.
â€¢ Spring Boot 3: Lightweight, production-ready framework for REST APIs.
â€¢ Spring Data JPA: Hibernate ORM for safe, boilerplate-free database operations.
â€¢ Bean Validation: Validates clean inputs (@NotNull, @NotBlank, @Positive).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01618-B115-CABA-FB47-4BA1B431985E}"/>
              </a:ext>
            </a:extLst>
          </p:cNvPr>
          <p:cNvSpPr/>
          <p:nvPr/>
        </p:nvSpPr>
        <p:spPr>
          <a:xfrm>
            <a:off x="508000" y="3810000"/>
            <a:ext cx="5461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16D3CA-991C-83C6-A94B-8B7F0074F86B}"/>
              </a:ext>
            </a:extLst>
          </p:cNvPr>
          <p:cNvSpPr txBox="1"/>
          <p:nvPr/>
        </p:nvSpPr>
        <p:spPr>
          <a:xfrm>
            <a:off x="685800" y="3937000"/>
            <a:ext cx="5105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300" b="1">
                <a:solidFill>
                  <a:srgbClr val="0F172A"/>
                </a:solidFill>
                <a:latin typeface="Segoe UI" panose="020B0502040204020203" pitchFamily="34" charset="0"/>
              </a:rPr>
              <a:t>Database (Storage Tier)
MySQL 8.0: Robust relational database engine managing 3NF normalized tables with foreign keys and unique constraints. (Includes local H2 fallback for instant viva demonstration).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C4306-145D-0EB5-1644-B45577DBC2E4}"/>
              </a:ext>
            </a:extLst>
          </p:cNvPr>
          <p:cNvSpPr/>
          <p:nvPr/>
        </p:nvSpPr>
        <p:spPr>
          <a:xfrm>
            <a:off x="6223000" y="3810000"/>
            <a:ext cx="5461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40BEC-82F4-DDBD-863D-DE2C61A5A4A8}"/>
              </a:ext>
            </a:extLst>
          </p:cNvPr>
          <p:cNvSpPr txBox="1"/>
          <p:nvPr/>
        </p:nvSpPr>
        <p:spPr>
          <a:xfrm>
            <a:off x="6400800" y="3937000"/>
            <a:ext cx="5105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300" b="1">
                <a:solidFill>
                  <a:srgbClr val="0F172A"/>
                </a:solidFill>
                <a:latin typeface="Segoe UI" panose="020B0502040204020203" pitchFamily="34" charset="0"/>
              </a:rPr>
              <a:t>Developer &amp; Testing Tools
Antigravity IDE / VS Code: Code editing &amp; debugging.
Apache Maven: Dependency &amp; build management.
Postman: REST API endpoint testing.</a:t>
            </a:r>
          </a:p>
        </p:txBody>
      </p:sp>
    </p:spTree>
    <p:extLst>
      <p:ext uri="{BB962C8B-B14F-4D97-AF65-F5344CB8AC3E}">
        <p14:creationId xmlns:p14="http://schemas.microsoft.com/office/powerpoint/2010/main" val="208336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CDA905-5A8F-6C7D-4820-906944918AD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17175F-DD9E-DFA2-54F8-65E9DE9701AB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DEB2E-CF43-EC43-6E85-96935DA3492A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3-Tier Architecture &amp; Multi-Port Data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D686B2-0496-07FC-1C64-F5863101D4F6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9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85F05-F3C2-7D10-CD2C-3A13877818BE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64EA88-8662-158E-770B-4ECD577502CB}"/>
              </a:ext>
            </a:extLst>
          </p:cNvPr>
          <p:cNvSpPr/>
          <p:nvPr/>
        </p:nvSpPr>
        <p:spPr>
          <a:xfrm>
            <a:off x="508000" y="952500"/>
            <a:ext cx="11176000" cy="4318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20FB2-C9B5-D2F5-A844-8DDD558CA93B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The system follows a strict, industry-standard 3-tier architecture with dedicated network ports: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F4A8C-7067-78E7-4456-12CE8ED5868E}"/>
              </a:ext>
            </a:extLst>
          </p:cNvPr>
          <p:cNvSpPr/>
          <p:nvPr/>
        </p:nvSpPr>
        <p:spPr>
          <a:xfrm>
            <a:off x="508000" y="1651000"/>
            <a:ext cx="3302000" cy="203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C5E0B5-09EC-746D-7936-9BD97EFF3491}"/>
              </a:ext>
            </a:extLst>
          </p:cNvPr>
          <p:cNvSpPr txBox="1"/>
          <p:nvPr/>
        </p:nvSpPr>
        <p:spPr>
          <a:xfrm>
            <a:off x="698500" y="1841500"/>
            <a:ext cx="2921000" cy="1169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2563EB"/>
                </a:solidFill>
                <a:latin typeface="Segoe UI" panose="020B0502040204020203" pitchFamily="34" charset="0"/>
              </a:rPr>
              <a:t>TIER 1: FRONTEND
Web Browser
Port :5500 / Browser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AED930-45D7-99DF-20C2-FC2BA01CEDE4}"/>
              </a:ext>
            </a:extLst>
          </p:cNvPr>
          <p:cNvSpPr txBox="1"/>
          <p:nvPr/>
        </p:nvSpPr>
        <p:spPr>
          <a:xfrm>
            <a:off x="3937000" y="2413000"/>
            <a:ext cx="381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D9488"/>
                </a:solidFill>
                <a:latin typeface="Segoe UI" panose="020B0502040204020203" pitchFamily="34" charset="0"/>
              </a:rPr>
              <a:t>&lt;-&gt;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EBEC9E-75D2-4E79-90D5-7D0A8BD24AA2}"/>
              </a:ext>
            </a:extLst>
          </p:cNvPr>
          <p:cNvSpPr/>
          <p:nvPr/>
        </p:nvSpPr>
        <p:spPr>
          <a:xfrm>
            <a:off x="4445000" y="1651000"/>
            <a:ext cx="3302000" cy="203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F5CEF-D5F8-801D-5C4D-A8DD20D89407}"/>
              </a:ext>
            </a:extLst>
          </p:cNvPr>
          <p:cNvSpPr txBox="1"/>
          <p:nvPr/>
        </p:nvSpPr>
        <p:spPr>
          <a:xfrm>
            <a:off x="4635500" y="1841500"/>
            <a:ext cx="2921000" cy="1169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0D9488"/>
                </a:solidFill>
                <a:latin typeface="Segoe UI" panose="020B0502040204020203" pitchFamily="34" charset="0"/>
              </a:rPr>
              <a:t>TIER 2: BACKEND
Spring Boot 3 REST Server
Port :8080 (Tomcat)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A39D3B-4581-03C2-C9F2-02C74B7396C9}"/>
              </a:ext>
            </a:extLst>
          </p:cNvPr>
          <p:cNvSpPr txBox="1"/>
          <p:nvPr/>
        </p:nvSpPr>
        <p:spPr>
          <a:xfrm>
            <a:off x="7874000" y="2413000"/>
            <a:ext cx="381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D9488"/>
                </a:solidFill>
                <a:latin typeface="Segoe UI" panose="020B0502040204020203" pitchFamily="34" charset="0"/>
              </a:rPr>
              <a:t>&lt;-&gt;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D00CEA-9B45-FAA6-24A0-97BBCB0F15B0}"/>
              </a:ext>
            </a:extLst>
          </p:cNvPr>
          <p:cNvSpPr/>
          <p:nvPr/>
        </p:nvSpPr>
        <p:spPr>
          <a:xfrm>
            <a:off x="8382000" y="1651000"/>
            <a:ext cx="3302000" cy="203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8A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579B5B-6DFE-8230-EF85-98C1EE31FE47}"/>
              </a:ext>
            </a:extLst>
          </p:cNvPr>
          <p:cNvSpPr txBox="1"/>
          <p:nvPr/>
        </p:nvSpPr>
        <p:spPr>
          <a:xfrm>
            <a:off x="8572500" y="1841500"/>
            <a:ext cx="2921000" cy="1169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CA8A04"/>
                </a:solidFill>
                <a:latin typeface="Segoe UI" panose="020B0502040204020203" pitchFamily="34" charset="0"/>
              </a:rPr>
              <a:t>TIER 3: DATABASE
MySQL 8.0 Relational DB
Port :3306 (TCP/IP)</a:t>
            </a:r>
            <a:endParaRPr lang="en-IN" sz="1400" b="1">
              <a:solidFill>
                <a:srgbClr val="CA8A04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24C524-1DEC-ADD7-7494-95044FA666D0}"/>
              </a:ext>
            </a:extLst>
          </p:cNvPr>
          <p:cNvSpPr/>
          <p:nvPr/>
        </p:nvSpPr>
        <p:spPr>
          <a:xfrm>
            <a:off x="508000" y="3937000"/>
            <a:ext cx="11176000" cy="23495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1D5903-94ED-1D52-A9E3-E57B2919FC90}"/>
              </a:ext>
            </a:extLst>
          </p:cNvPr>
          <p:cNvSpPr txBox="1"/>
          <p:nvPr/>
        </p:nvSpPr>
        <p:spPr>
          <a:xfrm>
            <a:off x="685800" y="4038600"/>
            <a:ext cx="10820400" cy="57708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0F766E"/>
                </a:solidFill>
                <a:latin typeface="Segoe UI" panose="020B0502040204020203" pitchFamily="34" charset="0"/>
              </a:rPr>
              <a:t>Step-by-Step Data Flow:
Pharmacy Staff clicks 'Dispense' on screen -&gt; Frontend sends JSON to Backend (Port 8080) -&gt; Spring Boot checks FEFO rules and executes SQL on MySQL (Port 3306) -&gt; MySQL returns updated records -&gt; Frontend displays the instant receipt!</a:t>
            </a:r>
          </a:p>
        </p:txBody>
      </p:sp>
    </p:spTree>
    <p:extLst>
      <p:ext uri="{BB962C8B-B14F-4D97-AF65-F5344CB8AC3E}">
        <p14:creationId xmlns:p14="http://schemas.microsoft.com/office/powerpoint/2010/main" val="3007130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BCF70A-6883-6075-FEC1-C43F9104206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A279F-370F-805B-53F3-12CCD8A7B54A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76884-DE1A-A944-EE20-087EDA666D2E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Application Modules Breakdown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FB73E-BF27-D1FF-E4F5-9F13CE93239A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10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B3FAE-5009-60C2-1A26-4FC6AF6039B8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16125-670F-8F0F-B7CC-9853E8DACE86}"/>
              </a:ext>
            </a:extLst>
          </p:cNvPr>
          <p:cNvSpPr/>
          <p:nvPr/>
        </p:nvSpPr>
        <p:spPr>
          <a:xfrm>
            <a:off x="508000" y="952500"/>
            <a:ext cx="11176000" cy="4318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8647E4-8035-C67C-AF34-C10ABEB77194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8 dedicated functional modules covering complete pharmaceutical inventory management: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2770C4D-CE48-4B50-757E-DCA79DF93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871044"/>
              </p:ext>
            </p:extLst>
          </p:nvPr>
        </p:nvGraphicFramePr>
        <p:xfrm>
          <a:off x="508000" y="1524000"/>
          <a:ext cx="111760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78010526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453397851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41414493"/>
                    </a:ext>
                  </a:extLst>
                </a:gridCol>
              </a:tblGrid>
              <a:tr h="52211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Module Name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Web Page File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Single-Sentence Purpose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83073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1. Dashboard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index.html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Displays 5 quick summary numbers and recent alert tables at a single glance.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783975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2. Medicines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medicines.html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Allows staff to register, update, and search medicines and their safe storage temperature limits.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397511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3. Suppliers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suppliers.html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Stores certified manufacturer contact details, emails, and physical warehouse addresses.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12617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4. Batches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batches.html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Tracks discrete medicine batches with unique batch numbers, stock count, and expiry dates.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680263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5. FEFO Dispense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dispense.html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Automatically selects and deducts from the earliest-expiring verified batch to prevent wastage.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045939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6. Expiry Alerts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expiry.html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Groups inventory into Expired, 30-day, 60-day, and 90-day alert tabs so near-expiry stock is quarantined.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3037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7. Temperature Logger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temperature.html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Logs thermal sensor readings and checks if cold-chain medicine temperatures stay within safe limits.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180300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8. Batch Verification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verification.html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Looks up batch authenticity and lets pharmacists mark suspect stock as VERIFIED or REJECTED.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444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132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843C77-DC5B-48D3-EA1B-0F198C107F1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A388E-5E9E-1BB9-08A0-68A006950808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DATABASE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84476-EBF7-31B6-002B-B0F2FCA87C78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Segoe UI" panose="020B0502040204020203" pitchFamily="34" charset="0"/>
              </a:rPr>
              <a:t>Normalized MySQL 3NF Database Structure</a:t>
            </a:r>
            <a:endParaRPr lang="en-IN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A99B88-4343-D598-CEDC-33A53C7B3A00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11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E0195-EA8A-D642-06C0-A755BADD0151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3762F-6A1F-C3EA-9DA9-8CE22A5A14FD}"/>
              </a:ext>
            </a:extLst>
          </p:cNvPr>
          <p:cNvSpPr/>
          <p:nvPr/>
        </p:nvSpPr>
        <p:spPr>
          <a:xfrm>
            <a:off x="508000" y="952500"/>
            <a:ext cx="11176000" cy="4318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ED284-6A2B-DA14-D30F-BB29076AE00F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The database is normalized to Third Normal Form (3NF). This avoids repeating data and guarantees that every table has a Primary Key and clean Foreign Keys.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397436-74BB-1A7C-58BA-C9D911D63D2D}"/>
              </a:ext>
            </a:extLst>
          </p:cNvPr>
          <p:cNvSpPr/>
          <p:nvPr/>
        </p:nvSpPr>
        <p:spPr>
          <a:xfrm>
            <a:off x="508000" y="1524000"/>
            <a:ext cx="5461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F7387-5CFA-6B24-C765-92A302DD213A}"/>
              </a:ext>
            </a:extLst>
          </p:cNvPr>
          <p:cNvSpPr txBox="1"/>
          <p:nvPr/>
        </p:nvSpPr>
        <p:spPr>
          <a:xfrm>
            <a:off x="685800" y="1651000"/>
            <a:ext cx="51054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medicines Table
Columns: id (PK), name (UNIQUE), generic_name, category, dosage, min_temperature, max_temperature, created_at.
Purpose: Stores the official drug catalog and storage rules.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43CABF-7698-2D78-2B68-2C2F813F12C6}"/>
              </a:ext>
            </a:extLst>
          </p:cNvPr>
          <p:cNvSpPr/>
          <p:nvPr/>
        </p:nvSpPr>
        <p:spPr>
          <a:xfrm>
            <a:off x="6223000" y="1524000"/>
            <a:ext cx="5461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9807E1-B3FE-9BDB-4759-E96808828E95}"/>
              </a:ext>
            </a:extLst>
          </p:cNvPr>
          <p:cNvSpPr txBox="1"/>
          <p:nvPr/>
        </p:nvSpPr>
        <p:spPr>
          <a:xfrm>
            <a:off x="6400800" y="1651000"/>
            <a:ext cx="51054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suppliers Table
Columns: id (PK), supplier_name (UNIQUE), contact_person, phone, email, address, created_at.
Purpose: Stores authorized distributor credentials.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FE097E-BBD0-6EED-112A-BC98A618C90B}"/>
              </a:ext>
            </a:extLst>
          </p:cNvPr>
          <p:cNvSpPr/>
          <p:nvPr/>
        </p:nvSpPr>
        <p:spPr>
          <a:xfrm>
            <a:off x="508000" y="3746500"/>
            <a:ext cx="5461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FBC56B-638B-974E-7B85-41677363F05F}"/>
              </a:ext>
            </a:extLst>
          </p:cNvPr>
          <p:cNvSpPr txBox="1"/>
          <p:nvPr/>
        </p:nvSpPr>
        <p:spPr>
          <a:xfrm>
            <a:off x="685800" y="3873500"/>
            <a:ext cx="5105400" cy="12003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300" b="1">
                <a:solidFill>
                  <a:srgbClr val="0F172A"/>
                </a:solidFill>
                <a:latin typeface="Segoe UI" panose="020B0502040204020203" pitchFamily="34" charset="0"/>
              </a:rPr>
              <a:t>batches Table
Columns: id (PK), batch_number (UNIQUE), medicine_id (FK), supplier_id (FK), manufacturer, manufacturing_date, expiry_date, quantity, storage_requirement, verification_status.
Purpose: Physical inventory ledger used for FEFO sorting.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96D6C2-60D5-5174-76FD-A7681ABC4F0D}"/>
              </a:ext>
            </a:extLst>
          </p:cNvPr>
          <p:cNvSpPr/>
          <p:nvPr/>
        </p:nvSpPr>
        <p:spPr>
          <a:xfrm>
            <a:off x="6223000" y="3746500"/>
            <a:ext cx="5461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E4F238-853C-A468-DC73-D2CC160F9658}"/>
              </a:ext>
            </a:extLst>
          </p:cNvPr>
          <p:cNvSpPr txBox="1"/>
          <p:nvPr/>
        </p:nvSpPr>
        <p:spPr>
          <a:xfrm>
            <a:off x="6400800" y="3873500"/>
            <a:ext cx="51054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temperature_logs Table
Columns: id (PK), batch_id (FK), recorded_temperature, recorded_at, compliance_status, notes.
Purpose: Stores cold-chain temperature readings.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7591F2-2F4D-203E-BD15-C72063172F4B}"/>
              </a:ext>
            </a:extLst>
          </p:cNvPr>
          <p:cNvSpPr txBox="1"/>
          <p:nvPr/>
        </p:nvSpPr>
        <p:spPr>
          <a:xfrm>
            <a:off x="508000" y="6096000"/>
            <a:ext cx="11176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0F766E"/>
                </a:solidFill>
                <a:latin typeface="Segoe UI" panose="020B0502040204020203" pitchFamily="34" charset="0"/>
              </a:rPr>
              <a:t>Simple Relationships: 1 Medicine -&gt; has many Batches | 1 Supplier -&gt; provides many Batches | 1 Batch -&gt; has many Temperature Logs</a:t>
            </a:r>
            <a:endParaRPr lang="en-IN" sz="1050" b="1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734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8ED2-680A-25CC-D06D-2EC342F4AF2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831DD-9811-FA33-8345-0D091AB642A5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SYSTEM MODELING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0F0F29-A67B-D10F-786A-9D8B5E7D5B88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Segoe UI" panose="020B0502040204020203" pitchFamily="34" charset="0"/>
              </a:rPr>
              <a:t>Data Flow Diagrams (Level 0 &amp; Level 1)</a:t>
            </a:r>
            <a:endParaRPr lang="en-IN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86558E-2033-45AA-5510-31449B42E7E1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12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37892-8718-4320-2E9F-37495A7E01A1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32E81A-0DD1-C2E1-B064-24CBBC49B85D}"/>
              </a:ext>
            </a:extLst>
          </p:cNvPr>
          <p:cNvSpPr/>
          <p:nvPr/>
        </p:nvSpPr>
        <p:spPr>
          <a:xfrm>
            <a:off x="508000" y="10795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EA189F-2584-47E8-ED89-E75BBD94B3C1}"/>
              </a:ext>
            </a:extLst>
          </p:cNvPr>
          <p:cNvSpPr txBox="1"/>
          <p:nvPr/>
        </p:nvSpPr>
        <p:spPr>
          <a:xfrm>
            <a:off x="698500" y="1206500"/>
            <a:ext cx="5080000" cy="31085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DFD Level 0 (Context Level)
[External Entity]
  Pharmacy Staff / Admin
       |
       v  (Inputs &amp; Requests)
[Main System Process]
  [0.0] Smart Pharmacy Supply Chain System
       |
       v  (SQL Reads / Writes)
[Data Store]
  MySQL 8.0 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413F42-1D99-AB3F-4475-59B0DF190E6F}"/>
              </a:ext>
            </a:extLst>
          </p:cNvPr>
          <p:cNvSpPr/>
          <p:nvPr/>
        </p:nvSpPr>
        <p:spPr>
          <a:xfrm>
            <a:off x="6223000" y="10795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41D78C-02A9-7300-DAA3-648BBC2755F8}"/>
              </a:ext>
            </a:extLst>
          </p:cNvPr>
          <p:cNvSpPr txBox="1"/>
          <p:nvPr/>
        </p:nvSpPr>
        <p:spPr>
          <a:xfrm>
            <a:off x="6413500" y="1206500"/>
            <a:ext cx="5080000" cy="48320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  <a:latin typeface="Segoe UI" panose="020B0502040204020203" pitchFamily="34" charset="0"/>
              </a:rPr>
              <a:t>DFD Level 1 (Major Processes)
- 1.0 Manage Drugs: Add/Update drug names &amp; temperature rules.
- 2.0 Manage Suppliers: Add/Update certified vendor information.
- 3.0 Manage Batches: Record physical batch number, mfg &amp; exp date.
- 4.0 FEFO Dispensing: Query earliest verified batch &amp; deduct stock.
- 5.0 Verify Batch: Authenticate batch &amp; mark VERIFIED or REJECTED.
- 6.0 Cold-Chain Monitor: Compare sensor reading with drug thresholds.
- 7.0 Expiry Radar: Group active inventory by days remaining.</a:t>
            </a:r>
          </a:p>
        </p:txBody>
      </p:sp>
    </p:spTree>
    <p:extLst>
      <p:ext uri="{BB962C8B-B14F-4D97-AF65-F5344CB8AC3E}">
        <p14:creationId xmlns:p14="http://schemas.microsoft.com/office/powerpoint/2010/main" val="2120701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6A3ECB-F7B1-039C-32D8-68A80449B1F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FC737-67F6-D700-9384-ADA14236C09D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USER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A7CD1-173E-DD6C-C0F7-6B9C667C7DFC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Segoe UI" panose="020B0502040204020203" pitchFamily="34" charset="0"/>
              </a:rPr>
              <a:t>End-to-End Pharmacy Workflow &amp; FEFO Example</a:t>
            </a:r>
            <a:endParaRPr lang="en-IN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A86D97-962B-5C3F-6946-C44F24DD2A89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13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4B745-EE02-C961-DD14-DF6F4769971C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E0D5DB-B497-CADB-5BA7-CE2ACFFDA604}"/>
              </a:ext>
            </a:extLst>
          </p:cNvPr>
          <p:cNvSpPr/>
          <p:nvPr/>
        </p:nvSpPr>
        <p:spPr>
          <a:xfrm>
            <a:off x="508000" y="952500"/>
            <a:ext cx="11176000" cy="406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96054-02B4-52B1-8FBD-3D63DD252A39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The system guides the pharmacy staff through 8 clear, sequential steps: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0E9E6A-3E7F-33EE-3933-C8A83D20C6F0}"/>
              </a:ext>
            </a:extLst>
          </p:cNvPr>
          <p:cNvSpPr/>
          <p:nvPr/>
        </p:nvSpPr>
        <p:spPr>
          <a:xfrm>
            <a:off x="508000" y="1460500"/>
            <a:ext cx="1206500" cy="7620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C767F-3B0D-C8B5-9EA3-0FA9A3B2B29C}"/>
              </a:ext>
            </a:extLst>
          </p:cNvPr>
          <p:cNvSpPr txBox="1"/>
          <p:nvPr/>
        </p:nvSpPr>
        <p:spPr>
          <a:xfrm>
            <a:off x="558800" y="1524000"/>
            <a:ext cx="11049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50" b="1">
                <a:solidFill>
                  <a:srgbClr val="0F172A"/>
                </a:solidFill>
                <a:latin typeface="Segoe UI" panose="020B0502040204020203" pitchFamily="34" charset="0"/>
              </a:rPr>
              <a:t>1. Add Medicine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977229-360C-C6D6-1791-EF5D0E4D4EB0}"/>
              </a:ext>
            </a:extLst>
          </p:cNvPr>
          <p:cNvSpPr txBox="1"/>
          <p:nvPr/>
        </p:nvSpPr>
        <p:spPr>
          <a:xfrm>
            <a:off x="1739900" y="1651000"/>
            <a:ext cx="19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FDA98F-A3FB-6639-5DC7-290E0EA0B8D0}"/>
              </a:ext>
            </a:extLst>
          </p:cNvPr>
          <p:cNvSpPr/>
          <p:nvPr/>
        </p:nvSpPr>
        <p:spPr>
          <a:xfrm>
            <a:off x="1930400" y="1460500"/>
            <a:ext cx="1206500" cy="7620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50291E-8865-41C6-66F9-A5A7BF14263C}"/>
              </a:ext>
            </a:extLst>
          </p:cNvPr>
          <p:cNvSpPr txBox="1"/>
          <p:nvPr/>
        </p:nvSpPr>
        <p:spPr>
          <a:xfrm>
            <a:off x="1981200" y="1524000"/>
            <a:ext cx="11049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50" b="1">
                <a:solidFill>
                  <a:srgbClr val="0F172A"/>
                </a:solidFill>
                <a:latin typeface="Segoe UI" panose="020B0502040204020203" pitchFamily="34" charset="0"/>
              </a:rPr>
              <a:t>2. Add Supplier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84F60C-2302-2434-A99E-A54D0880731C}"/>
              </a:ext>
            </a:extLst>
          </p:cNvPr>
          <p:cNvSpPr txBox="1"/>
          <p:nvPr/>
        </p:nvSpPr>
        <p:spPr>
          <a:xfrm>
            <a:off x="3162300" y="1651000"/>
            <a:ext cx="19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A02CD7-C2F7-8BC4-5738-05CC07705F32}"/>
              </a:ext>
            </a:extLst>
          </p:cNvPr>
          <p:cNvSpPr/>
          <p:nvPr/>
        </p:nvSpPr>
        <p:spPr>
          <a:xfrm>
            <a:off x="3352800" y="1460500"/>
            <a:ext cx="1206500" cy="7620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7672E3-F6DF-ED48-9697-28EBEB6DC112}"/>
              </a:ext>
            </a:extLst>
          </p:cNvPr>
          <p:cNvSpPr txBox="1"/>
          <p:nvPr/>
        </p:nvSpPr>
        <p:spPr>
          <a:xfrm>
            <a:off x="3403600" y="1524000"/>
            <a:ext cx="11049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50" b="1">
                <a:solidFill>
                  <a:srgbClr val="0F172A"/>
                </a:solidFill>
                <a:latin typeface="Segoe UI" panose="020B0502040204020203" pitchFamily="34" charset="0"/>
              </a:rPr>
              <a:t>3. Add Batch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430F0E-648D-FCEC-4C29-BDC583200A06}"/>
              </a:ext>
            </a:extLst>
          </p:cNvPr>
          <p:cNvSpPr txBox="1"/>
          <p:nvPr/>
        </p:nvSpPr>
        <p:spPr>
          <a:xfrm>
            <a:off x="4584700" y="1651000"/>
            <a:ext cx="19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DDC9B9-92D6-3B5A-3212-04DF9C959E1C}"/>
              </a:ext>
            </a:extLst>
          </p:cNvPr>
          <p:cNvSpPr/>
          <p:nvPr/>
        </p:nvSpPr>
        <p:spPr>
          <a:xfrm>
            <a:off x="4775200" y="1460500"/>
            <a:ext cx="1206500" cy="7620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603107-A3C2-9D03-C52B-EFC39572CFD6}"/>
              </a:ext>
            </a:extLst>
          </p:cNvPr>
          <p:cNvSpPr txBox="1"/>
          <p:nvPr/>
        </p:nvSpPr>
        <p:spPr>
          <a:xfrm>
            <a:off x="4826000" y="1524000"/>
            <a:ext cx="11049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50" b="1">
                <a:solidFill>
                  <a:srgbClr val="0F172A"/>
                </a:solidFill>
                <a:latin typeface="Segoe UI" panose="020B0502040204020203" pitchFamily="34" charset="0"/>
              </a:rPr>
              <a:t>4. Verify Batch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BCAF56-5920-F7DE-F541-E9D5A7A6EAAB}"/>
              </a:ext>
            </a:extLst>
          </p:cNvPr>
          <p:cNvSpPr txBox="1"/>
          <p:nvPr/>
        </p:nvSpPr>
        <p:spPr>
          <a:xfrm>
            <a:off x="6007100" y="1651000"/>
            <a:ext cx="19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453EE1-9131-C0BC-6A46-F21EE55457EB}"/>
              </a:ext>
            </a:extLst>
          </p:cNvPr>
          <p:cNvSpPr/>
          <p:nvPr/>
        </p:nvSpPr>
        <p:spPr>
          <a:xfrm>
            <a:off x="6197600" y="1460500"/>
            <a:ext cx="1206500" cy="7620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C7327E-6AFD-4B38-3D8B-811133D98707}"/>
              </a:ext>
            </a:extLst>
          </p:cNvPr>
          <p:cNvSpPr txBox="1"/>
          <p:nvPr/>
        </p:nvSpPr>
        <p:spPr>
          <a:xfrm>
            <a:off x="6248400" y="1524000"/>
            <a:ext cx="11049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50" b="1">
                <a:solidFill>
                  <a:srgbClr val="0F172A"/>
                </a:solidFill>
                <a:latin typeface="Segoe UI" panose="020B0502040204020203" pitchFamily="34" charset="0"/>
              </a:rPr>
              <a:t>5. Log Temp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360B61-A3A5-064F-E0DD-86B25AAA8637}"/>
              </a:ext>
            </a:extLst>
          </p:cNvPr>
          <p:cNvSpPr txBox="1"/>
          <p:nvPr/>
        </p:nvSpPr>
        <p:spPr>
          <a:xfrm>
            <a:off x="7429500" y="1651000"/>
            <a:ext cx="19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5CB1CB-F77E-3A35-FEC4-5905C00AD71C}"/>
              </a:ext>
            </a:extLst>
          </p:cNvPr>
          <p:cNvSpPr/>
          <p:nvPr/>
        </p:nvSpPr>
        <p:spPr>
          <a:xfrm>
            <a:off x="7620000" y="1460500"/>
            <a:ext cx="1206500" cy="7620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594941-8880-8DA6-538B-0F2D8F0B11D7}"/>
              </a:ext>
            </a:extLst>
          </p:cNvPr>
          <p:cNvSpPr txBox="1"/>
          <p:nvPr/>
        </p:nvSpPr>
        <p:spPr>
          <a:xfrm>
            <a:off x="7670800" y="1524000"/>
            <a:ext cx="1104900" cy="2385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50" b="1">
                <a:solidFill>
                  <a:srgbClr val="0F172A"/>
                </a:solidFill>
                <a:latin typeface="Segoe UI" panose="020B0502040204020203" pitchFamily="34" charset="0"/>
              </a:rPr>
              <a:t>6. Check Expiry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773B84-1528-21BF-9DA6-5E6DCE5B05B4}"/>
              </a:ext>
            </a:extLst>
          </p:cNvPr>
          <p:cNvSpPr txBox="1"/>
          <p:nvPr/>
        </p:nvSpPr>
        <p:spPr>
          <a:xfrm>
            <a:off x="8851900" y="1651000"/>
            <a:ext cx="19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74E68F-ACC8-62D8-7FE3-3AE72C23F85A}"/>
              </a:ext>
            </a:extLst>
          </p:cNvPr>
          <p:cNvSpPr/>
          <p:nvPr/>
        </p:nvSpPr>
        <p:spPr>
          <a:xfrm>
            <a:off x="9042400" y="1460500"/>
            <a:ext cx="1206500" cy="7620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3890B6-1FE7-3BDB-5F55-16505DD458EF}"/>
              </a:ext>
            </a:extLst>
          </p:cNvPr>
          <p:cNvSpPr txBox="1"/>
          <p:nvPr/>
        </p:nvSpPr>
        <p:spPr>
          <a:xfrm>
            <a:off x="9093200" y="1524000"/>
            <a:ext cx="11049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50" b="1">
                <a:solidFill>
                  <a:srgbClr val="0F172A"/>
                </a:solidFill>
                <a:latin typeface="Segoe UI" panose="020B0502040204020203" pitchFamily="34" charset="0"/>
              </a:rPr>
              <a:t>7. FEFO Dispense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E18B16-24B7-7439-67FA-979E8073A7F9}"/>
              </a:ext>
            </a:extLst>
          </p:cNvPr>
          <p:cNvSpPr txBox="1"/>
          <p:nvPr/>
        </p:nvSpPr>
        <p:spPr>
          <a:xfrm>
            <a:off x="10274300" y="1651000"/>
            <a:ext cx="19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E75E24-938C-BF6A-DAA7-CF93858A2586}"/>
              </a:ext>
            </a:extLst>
          </p:cNvPr>
          <p:cNvSpPr/>
          <p:nvPr/>
        </p:nvSpPr>
        <p:spPr>
          <a:xfrm>
            <a:off x="10464800" y="1460500"/>
            <a:ext cx="1206500" cy="7620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7C9CAC-F539-1120-39AB-89BF5DC65425}"/>
              </a:ext>
            </a:extLst>
          </p:cNvPr>
          <p:cNvSpPr txBox="1"/>
          <p:nvPr/>
        </p:nvSpPr>
        <p:spPr>
          <a:xfrm>
            <a:off x="10515600" y="1524000"/>
            <a:ext cx="11049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50" b="1">
                <a:solidFill>
                  <a:srgbClr val="0F172A"/>
                </a:solidFill>
                <a:latin typeface="Segoe UI" panose="020B0502040204020203" pitchFamily="34" charset="0"/>
              </a:rPr>
              <a:t>8. Stock Updates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EC5AD8-C95B-0BA1-A5BF-92739F4BE29E}"/>
              </a:ext>
            </a:extLst>
          </p:cNvPr>
          <p:cNvSpPr/>
          <p:nvPr/>
        </p:nvSpPr>
        <p:spPr>
          <a:xfrm>
            <a:off x="508000" y="2413000"/>
            <a:ext cx="11176000" cy="3810000"/>
          </a:xfrm>
          <a:prstGeom prst="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863437-3467-09E0-7F7A-C56D77DDC0FE}"/>
              </a:ext>
            </a:extLst>
          </p:cNvPr>
          <p:cNvSpPr txBox="1"/>
          <p:nvPr/>
        </p:nvSpPr>
        <p:spPr>
          <a:xfrm>
            <a:off x="762000" y="2603500"/>
            <a:ext cx="10668000" cy="240065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F766E"/>
                </a:solidFill>
                <a:latin typeface="Segoe UI" panose="020B0502040204020203" pitchFamily="34" charset="0"/>
              </a:rPr>
              <a:t>Easy FEFO Concept Explained
FEFO Rule: 'The batch that expires first must be used first.'
[Batch A]: Batch A: Expires 10-October-2026 (Qty: 20) -&gt; Status: Selected 1st (Earliest Expiry)
[Batch B]: Batch B: Expires 15-December-2026 (Qty: 40) -&gt; Status: Selected 2nd (Expires Later)
When dispensing 10 units of Paracetamol, our system automatically deducts 10 from Batch A and leaves Batch B untouched.</a:t>
            </a:r>
            <a:endParaRPr lang="en-IN" sz="1500" b="1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040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9977C6-922B-BA37-7AD8-1F9DD385D1F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4C6C9-A0C3-F078-D510-DC53C63832C8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FRONTEND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79B84-AB33-DAF8-B184-29B5749BAEBD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Segoe UI" panose="020B0502040204020203" pitchFamily="34" charset="0"/>
              </a:rPr>
              <a:t>Accessible Forms &amp; Clean User Interface</a:t>
            </a:r>
            <a:endParaRPr lang="en-IN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ADF4FA-9559-0B0C-4795-E1DE5D4B3AB4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14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AD84F-7066-1618-5FE2-7BA0522F23B8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9E519-4F78-50A1-DBB3-019B574CC22E}"/>
              </a:ext>
            </a:extLst>
          </p:cNvPr>
          <p:cNvSpPr/>
          <p:nvPr/>
        </p:nvSpPr>
        <p:spPr>
          <a:xfrm>
            <a:off x="508000" y="952500"/>
            <a:ext cx="11176000" cy="406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E0E883-1942-7AF2-EC58-7D6D48ED475F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The user interface is built with Vanilla HTML5 and CSS3 to ensure clean readability on any projector or screen: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609642-E78D-48DF-7B22-6C1D77C86FE4}"/>
              </a:ext>
            </a:extLst>
          </p:cNvPr>
          <p:cNvSpPr/>
          <p:nvPr/>
        </p:nvSpPr>
        <p:spPr>
          <a:xfrm>
            <a:off x="508000" y="1460500"/>
            <a:ext cx="355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FD71B4-7792-68FD-D72C-A18DBF8575A5}"/>
              </a:ext>
            </a:extLst>
          </p:cNvPr>
          <p:cNvSpPr txBox="1"/>
          <p:nvPr/>
        </p:nvSpPr>
        <p:spPr>
          <a:xfrm>
            <a:off x="685800" y="15875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Fixed Navigation
A clean left sidebar gives staff quick 1-click access to all 8 pharmacy sections without getting lost.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166165-B805-6F29-36B4-F3EBD30E6759}"/>
              </a:ext>
            </a:extLst>
          </p:cNvPr>
          <p:cNvSpPr/>
          <p:nvPr/>
        </p:nvSpPr>
        <p:spPr>
          <a:xfrm>
            <a:off x="4318000" y="1460500"/>
            <a:ext cx="355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40E41C-B0F5-A10D-7A97-082B2A1500D8}"/>
              </a:ext>
            </a:extLst>
          </p:cNvPr>
          <p:cNvSpPr txBox="1"/>
          <p:nvPr/>
        </p:nvSpPr>
        <p:spPr>
          <a:xfrm>
            <a:off x="4495800" y="15875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Fully Responsive
CSS Grid and Flexbox automatically adapt from 360px mobile viewports to 1920px widescreen clinic desktops.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C09E2-9269-1090-BD94-BF74BAE2FBA9}"/>
              </a:ext>
            </a:extLst>
          </p:cNvPr>
          <p:cNvSpPr/>
          <p:nvPr/>
        </p:nvSpPr>
        <p:spPr>
          <a:xfrm>
            <a:off x="8128000" y="1460500"/>
            <a:ext cx="355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F151E7-2B82-E8C5-0C72-8CAB25501AFC}"/>
              </a:ext>
            </a:extLst>
          </p:cNvPr>
          <p:cNvSpPr txBox="1"/>
          <p:nvPr/>
        </p:nvSpPr>
        <p:spPr>
          <a:xfrm>
            <a:off x="8305800" y="1587500"/>
            <a:ext cx="32004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Clear Visual Badges
Color-coded tags (Green for Verified, Amber for Unverified, Red for Out-of-Range or Rejected) guide quick clinical decisions.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450304-BA47-E750-9EB1-8DFB1F74AF34}"/>
              </a:ext>
            </a:extLst>
          </p:cNvPr>
          <p:cNvSpPr/>
          <p:nvPr/>
        </p:nvSpPr>
        <p:spPr>
          <a:xfrm>
            <a:off x="508000" y="3937000"/>
            <a:ext cx="5461000" cy="234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878C20-A34A-DFCA-993A-C32654404D1E}"/>
              </a:ext>
            </a:extLst>
          </p:cNvPr>
          <p:cNvSpPr txBox="1"/>
          <p:nvPr/>
        </p:nvSpPr>
        <p:spPr>
          <a:xfrm>
            <a:off x="685800" y="4064000"/>
            <a:ext cx="5105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Real-Time FEFO Receipt Card
Immediately after clicking Dispense, the screen displays a dashed receipt card showing the exact batch number used and how many units remain.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C732ED-436E-F44B-6A60-5AFE7BD97467}"/>
              </a:ext>
            </a:extLst>
          </p:cNvPr>
          <p:cNvSpPr/>
          <p:nvPr/>
        </p:nvSpPr>
        <p:spPr>
          <a:xfrm>
            <a:off x="6223000" y="3937000"/>
            <a:ext cx="5461000" cy="234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974908-3053-ADF6-69D2-BE8622BB638D}"/>
              </a:ext>
            </a:extLst>
          </p:cNvPr>
          <p:cNvSpPr txBox="1"/>
          <p:nvPr/>
        </p:nvSpPr>
        <p:spPr>
          <a:xfrm>
            <a:off x="6400800" y="4064000"/>
            <a:ext cx="5105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Non-Intrusive Toast Alerts
Success and warning messages pop up at the top right for 4 seconds, confirming actions without disruptive browser alert boxes.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463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5D702D-EBA3-D175-1E14-7AD24A97949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D0D72E-B7FA-B330-99F8-965A0AC3D024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BACKEND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35BCBA-FE92-DEE8-C08C-2FBCA944E666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Controller, Service &amp; Repository Layers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EC6DD9-4931-249F-3BCF-A0B43F4CC21F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15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C1135-53D0-E276-A2B3-9744BCE7C919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3BE7E-50F3-DC16-879B-06A3AA85B7EC}"/>
              </a:ext>
            </a:extLst>
          </p:cNvPr>
          <p:cNvSpPr/>
          <p:nvPr/>
        </p:nvSpPr>
        <p:spPr>
          <a:xfrm>
            <a:off x="508000" y="952500"/>
            <a:ext cx="11176000" cy="406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0F6CE-7097-DBED-F060-D1F8D20813ED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The Java Spring Boot backend separates code into 3 distinct responsibilities: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AE0AFB-C043-C4E6-5E61-8ACD9C7AAC4B}"/>
              </a:ext>
            </a:extLst>
          </p:cNvPr>
          <p:cNvSpPr/>
          <p:nvPr/>
        </p:nvSpPr>
        <p:spPr>
          <a:xfrm>
            <a:off x="508000" y="1460500"/>
            <a:ext cx="33020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4C726-0486-F2B1-25D2-CEE60B4B8236}"/>
              </a:ext>
            </a:extLst>
          </p:cNvPr>
          <p:cNvSpPr txBox="1"/>
          <p:nvPr/>
        </p:nvSpPr>
        <p:spPr>
          <a:xfrm>
            <a:off x="635000" y="1524000"/>
            <a:ext cx="304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1. Controller Layer
@RestController
Receives requests from browser</a:t>
            </a:r>
            <a:endParaRPr lang="en-IN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D5F13D-1013-2D6D-405F-4FF46CFBCF36}"/>
              </a:ext>
            </a:extLst>
          </p:cNvPr>
          <p:cNvSpPr txBox="1"/>
          <p:nvPr/>
        </p:nvSpPr>
        <p:spPr>
          <a:xfrm>
            <a:off x="4000500" y="1841500"/>
            <a:ext cx="317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1303C3-F8D0-3C5E-FC69-E58BBC47A7AC}"/>
              </a:ext>
            </a:extLst>
          </p:cNvPr>
          <p:cNvSpPr/>
          <p:nvPr/>
        </p:nvSpPr>
        <p:spPr>
          <a:xfrm>
            <a:off x="4445000" y="1460500"/>
            <a:ext cx="33020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35AE60-1F54-C665-1F2D-F33D8046AB28}"/>
              </a:ext>
            </a:extLst>
          </p:cNvPr>
          <p:cNvSpPr txBox="1"/>
          <p:nvPr/>
        </p:nvSpPr>
        <p:spPr>
          <a:xfrm>
            <a:off x="4572000" y="1524000"/>
            <a:ext cx="304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0F172A"/>
                </a:solidFill>
                <a:latin typeface="Segoe UI" panose="020B0502040204020203" pitchFamily="34" charset="0"/>
              </a:rPr>
              <a:t>2. Service Layer
@Service + @Transactional
Performs FEFO &amp; validation logic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FB8F14-1026-3AF3-F506-D6EE69E7391D}"/>
              </a:ext>
            </a:extLst>
          </p:cNvPr>
          <p:cNvSpPr txBox="1"/>
          <p:nvPr/>
        </p:nvSpPr>
        <p:spPr>
          <a:xfrm>
            <a:off x="7937500" y="1841500"/>
            <a:ext cx="317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0D9488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1EE881-C664-F8C5-2683-5848645A1EB0}"/>
              </a:ext>
            </a:extLst>
          </p:cNvPr>
          <p:cNvSpPr/>
          <p:nvPr/>
        </p:nvSpPr>
        <p:spPr>
          <a:xfrm>
            <a:off x="8382000" y="1460500"/>
            <a:ext cx="33020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6BC6A8-B280-E444-F34A-055C96560D0D}"/>
              </a:ext>
            </a:extLst>
          </p:cNvPr>
          <p:cNvSpPr txBox="1"/>
          <p:nvPr/>
        </p:nvSpPr>
        <p:spPr>
          <a:xfrm>
            <a:off x="8509000" y="1524000"/>
            <a:ext cx="304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3. Repository Layer
@Repository (Spring Data JPA)
Executes safe queries on MySQL</a:t>
            </a:r>
            <a:endParaRPr lang="en-IN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945DF2-4EC9-7FF3-6A7E-3211B9E59912}"/>
              </a:ext>
            </a:extLst>
          </p:cNvPr>
          <p:cNvSpPr/>
          <p:nvPr/>
        </p:nvSpPr>
        <p:spPr>
          <a:xfrm>
            <a:off x="508000" y="2730500"/>
            <a:ext cx="11176000" cy="19050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2A57F1-E182-A6A2-E740-EFBAFE0B7D9D}"/>
              </a:ext>
            </a:extLst>
          </p:cNvPr>
          <p:cNvSpPr txBox="1"/>
          <p:nvPr/>
        </p:nvSpPr>
        <p:spPr>
          <a:xfrm>
            <a:off x="685800" y="2832100"/>
            <a:ext cx="10820400" cy="57708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0F766E"/>
                </a:solidFill>
                <a:latin typeface="Segoe UI" panose="020B0502040204020203" pitchFamily="34" charset="0"/>
              </a:rPr>
              <a:t>Real Execution Example:
Staff requests to dispense 10 Paracetamol -&gt; DispenseController receives HTTP POST -&gt; DispenseServiceImpl calls findAvailableBatchesForFefo, sorts by earliest expiry date, deducts stock, and saves DispenseRecord -&gt; Returns clean JSON!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47F7B2-B19E-AB92-9D70-5B81854EBDFE}"/>
              </a:ext>
            </a:extLst>
          </p:cNvPr>
          <p:cNvSpPr/>
          <p:nvPr/>
        </p:nvSpPr>
        <p:spPr>
          <a:xfrm>
            <a:off x="508000" y="4762500"/>
            <a:ext cx="11176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03D8CA-052F-F3C0-4918-9B52D9074809}"/>
              </a:ext>
            </a:extLst>
          </p:cNvPr>
          <p:cNvSpPr txBox="1"/>
          <p:nvPr/>
        </p:nvSpPr>
        <p:spPr>
          <a:xfrm>
            <a:off x="685800" y="4889500"/>
            <a:ext cx="10820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Global Exception Handler (@RestControllerAdvice)
Catches errors automatically: returns 404 if batch not found, 409 if stock is insufficient or duplicate batch is submitted, and 400 for invalid dates.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871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624EA7-4460-3D60-A7BF-C69B8B8E914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C128F7-B43E-A8D0-6340-0ACD6D112237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DATABASE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77C62A-24CF-05F7-302A-6E4D94732E76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Database CRUD Operations via JPA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C76C9F-341A-FEF5-A04E-D24E393B93DE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16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0BDC87-43E2-8415-43BF-87EF65922D89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A4E668-779A-77A3-6AF8-0C44D5E56311}"/>
              </a:ext>
            </a:extLst>
          </p:cNvPr>
          <p:cNvSpPr/>
          <p:nvPr/>
        </p:nvSpPr>
        <p:spPr>
          <a:xfrm>
            <a:off x="508000" y="952500"/>
            <a:ext cx="11176000" cy="4318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1B6A4F-C05E-9181-ABA4-568E89ED0A90}"/>
              </a:ext>
            </a:extLst>
          </p:cNvPr>
          <p:cNvSpPr txBox="1"/>
          <p:nvPr/>
        </p:nvSpPr>
        <p:spPr>
          <a:xfrm>
            <a:off x="685800" y="1054100"/>
            <a:ext cx="10820400" cy="4001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SQL Injection Protection: All database queries use Spring Data JPA parameterized inputs. No raw SQL strings are concatenated, protecting the hospital pharmacy from SQL injection attacks.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470051D-CF66-7E18-9BD4-EE1124F96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319313"/>
              </p:ext>
            </p:extLst>
          </p:nvPr>
        </p:nvGraphicFramePr>
        <p:xfrm>
          <a:off x="508000" y="1524000"/>
          <a:ext cx="111760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5439363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92074917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27840389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483206694"/>
                    </a:ext>
                  </a:extLst>
                </a:gridCol>
              </a:tblGrid>
              <a:tr h="939800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CRUD Action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Pharmacy Operation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Java / JPA Execution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Database Effect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60769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 - Create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Register new medicine or add batch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medicineRepository.save(medicine)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INSERT INTO medicines ...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697764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R - Read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Query batches in FEFO order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findAvailableBatchesForFefo()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SELECT ... ORDER BY expiry_date ASC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512179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U - Update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Deduct stock; change verification status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batch.setQuantity(newQty)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UPDATE batches SET quantity = ?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434927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 - Delete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Remove old or canceled records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medicineRepository.deleteById(id)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DELETE FROM medicines WHERE id = ?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788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562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4CBA92-22DA-8422-16FC-17253312F94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E8C0B-4A68-78FE-369E-49548A7128E1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TESTING &amp; VERIFICATION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810D8-9FA2-52DA-A851-2897626F9B9F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Acceptance Criteria Verification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E7DBB-F0ED-4989-4D46-32BF794F50B5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17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1F30A-8579-B5B5-8E38-CDE1FE086761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646538-F94F-643E-3929-51D07B090A38}"/>
              </a:ext>
            </a:extLst>
          </p:cNvPr>
          <p:cNvSpPr/>
          <p:nvPr/>
        </p:nvSpPr>
        <p:spPr>
          <a:xfrm>
            <a:off x="508000" y="952500"/>
            <a:ext cx="11176000" cy="4318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7C0C7-0286-78AE-A33D-277011F66A39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Every functional requirement requested for this project was tested and passed directly on the live backend: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A2EC71-420C-FDAF-3C95-513D9A013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393335"/>
              </p:ext>
            </p:extLst>
          </p:nvPr>
        </p:nvGraphicFramePr>
        <p:xfrm>
          <a:off x="508000" y="1524000"/>
          <a:ext cx="11430000" cy="4698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9598119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59178443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8174843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93591004"/>
                    </a:ext>
                  </a:extLst>
                </a:gridCol>
              </a:tblGrid>
              <a:tr h="52211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Acceptance Criterion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Test Performed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Status Code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Result</a:t>
                      </a:r>
                    </a:p>
                  </a:txBody>
                  <a:tcPr marL="101600" marR="1016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060599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Track Medicine Batches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Added batch with manufacturer, mfg date, exp date, and quantity.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201 CREATED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66534"/>
                          </a:solidFill>
                          <a:latin typeface="Segoe UI" panose="020B0502040204020203" pitchFamily="34" charset="0"/>
                        </a:rPr>
                        <a:t>PASS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49678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FEFO Dispensing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Dispensed Paracetamol: batch expiring in Oct chosen over Dec.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200 OK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66534"/>
                          </a:solidFill>
                          <a:latin typeface="Segoe UI" panose="020B0502040204020203" pitchFamily="34" charset="0"/>
                        </a:rPr>
                        <a:t>PASS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987207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Multi-Batch Split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Dispensed 25 units: 10 units from Batch A, 15 from Batch B.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200 OK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66534"/>
                          </a:solidFill>
                          <a:latin typeface="Segoe UI" panose="020B0502040204020203" pitchFamily="34" charset="0"/>
                        </a:rPr>
                        <a:t>PASS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59878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Expiry Alert Radar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Calculated days remaining into 90d, 60d, 30d, and expired buckets.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200 OK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66534"/>
                          </a:solidFill>
                          <a:latin typeface="Segoe UI" panose="020B0502040204020203" pitchFamily="34" charset="0"/>
                        </a:rPr>
                        <a:t>PASS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864014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Batch Verification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Searched BATCH001 -&gt; VERIFIED; searched fake batch -&gt; NOT FOUND.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200 OK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66534"/>
                          </a:solidFill>
                          <a:latin typeface="Segoe UI" panose="020B0502040204020203" pitchFamily="34" charset="0"/>
                        </a:rPr>
                        <a:t>PASS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725619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Cold-Chain Compliance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Insulin (2-8C): 5C logged COMPLIANT; 12C logged OUT_OF_RANGE.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201 CREATED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66534"/>
                          </a:solidFill>
                          <a:latin typeface="Segoe UI" panose="020B0502040204020203" pitchFamily="34" charset="0"/>
                        </a:rPr>
                        <a:t>PASS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344575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Insufficient Stock Block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Requested 1,000 units when only 25 units exist in verified stock.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409 CONFLICT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66534"/>
                          </a:solidFill>
                          <a:latin typeface="Segoe UI" panose="020B0502040204020203" pitchFamily="34" charset="0"/>
                        </a:rPr>
                        <a:t>PASS</a:t>
                      </a:r>
                    </a:p>
                  </a:txBody>
                  <a:tcPr marL="101600" marR="101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091799"/>
                  </a:ext>
                </a:extLst>
              </a:tr>
              <a:tr h="522111"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Duplicate Batch Block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Attempted to insert already existing batch number BATCH-PCM-001.</a:t>
                      </a:r>
                      <a:endParaRPr lang="en-IN" sz="100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409 CONFLICT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>
                          <a:solidFill>
                            <a:srgbClr val="166534"/>
                          </a:solidFill>
                          <a:latin typeface="Segoe UI" panose="020B0502040204020203" pitchFamily="34" charset="0"/>
                        </a:rPr>
                        <a:t>PASS</a:t>
                      </a:r>
                    </a:p>
                  </a:txBody>
                  <a:tcPr marL="101600" marR="101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619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285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702FC6-CBD4-BC54-ACB3-382C739B23F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ED63C-E1F2-D424-5BDC-48887A66016B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FE980E-AE60-F98E-1E92-3C7BFB9A7F96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Segoe UI" panose="020B0502040204020203" pitchFamily="34" charset="0"/>
              </a:rPr>
              <a:t>Live Working Results from Implemented System</a:t>
            </a:r>
            <a:endParaRPr lang="en-IN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589ABA-2765-3E90-6E16-B716A5812CDA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18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638C3-8063-9D66-7B75-A53B5472A47E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E794EC-CFB0-7157-271A-F8C9F17323AF}"/>
              </a:ext>
            </a:extLst>
          </p:cNvPr>
          <p:cNvSpPr/>
          <p:nvPr/>
        </p:nvSpPr>
        <p:spPr>
          <a:xfrm>
            <a:off x="508000" y="952500"/>
            <a:ext cx="11176000" cy="406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E65B5F-9F8D-8C1B-4733-692EA5676776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The application is live and running on localhost with realistic seeded hospital data: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91280-24A0-3969-52AE-4777E0FFE715}"/>
              </a:ext>
            </a:extLst>
          </p:cNvPr>
          <p:cNvSpPr/>
          <p:nvPr/>
        </p:nvSpPr>
        <p:spPr>
          <a:xfrm>
            <a:off x="508000" y="1460500"/>
            <a:ext cx="3556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90033F-4EC3-783B-A391-BFA87E66A73C}"/>
              </a:ext>
            </a:extLst>
          </p:cNvPr>
          <p:cNvSpPr txBox="1"/>
          <p:nvPr/>
        </p:nvSpPr>
        <p:spPr>
          <a:xfrm>
            <a:off x="685800" y="1587500"/>
            <a:ext cx="3200400" cy="12003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Executive Dashboard
- Total Medicines: 5
- Active Batches: 10
- Low Stock Items: 4
- Expiring Soon (&lt;90d): 4
- Expired Batches: 1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54FC60-4B96-71AB-D00A-34FFD8B20534}"/>
              </a:ext>
            </a:extLst>
          </p:cNvPr>
          <p:cNvSpPr/>
          <p:nvPr/>
        </p:nvSpPr>
        <p:spPr>
          <a:xfrm>
            <a:off x="4318000" y="1460500"/>
            <a:ext cx="3556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DF03F2-61E8-1CA5-1C65-22549281B2DF}"/>
              </a:ext>
            </a:extLst>
          </p:cNvPr>
          <p:cNvSpPr txBox="1"/>
          <p:nvPr/>
        </p:nvSpPr>
        <p:spPr>
          <a:xfrm>
            <a:off x="4495800" y="1587500"/>
            <a:ext cx="32004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FEFO Dispense Console
Shows live preview queue of available verified batches. When staff dispenses, it generates a real-time transaction receipt showing remaining balances.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387BD4-C65D-AF79-8592-27AC000A58C7}"/>
              </a:ext>
            </a:extLst>
          </p:cNvPr>
          <p:cNvSpPr/>
          <p:nvPr/>
        </p:nvSpPr>
        <p:spPr>
          <a:xfrm>
            <a:off x="8128000" y="1460500"/>
            <a:ext cx="3556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17CF77-43A8-7C59-606B-1FACC76CE3F2}"/>
              </a:ext>
            </a:extLst>
          </p:cNvPr>
          <p:cNvSpPr txBox="1"/>
          <p:nvPr/>
        </p:nvSpPr>
        <p:spPr>
          <a:xfrm>
            <a:off x="8305800" y="1587500"/>
            <a:ext cx="32004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Cold-Chain Monitor
Thermal audit simulator tests live sensor temperatures against drug limits and displays red alert badges for out-of-range violations.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A3CBFD-235D-0BF0-FB1A-BC68AED6FAE4}"/>
              </a:ext>
            </a:extLst>
          </p:cNvPr>
          <p:cNvSpPr/>
          <p:nvPr/>
        </p:nvSpPr>
        <p:spPr>
          <a:xfrm>
            <a:off x="508000" y="5143500"/>
            <a:ext cx="11176000" cy="11430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B33778-6BA5-36A9-80C8-3BD9A4C3AD64}"/>
              </a:ext>
            </a:extLst>
          </p:cNvPr>
          <p:cNvSpPr txBox="1"/>
          <p:nvPr/>
        </p:nvSpPr>
        <p:spPr>
          <a:xfrm>
            <a:off x="685800" y="5245100"/>
            <a:ext cx="10820400" cy="4001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150">
                <a:solidFill>
                  <a:srgbClr val="0F766E"/>
                </a:solidFill>
                <a:latin typeface="Segoe UI" panose="020B0502040204020203" pitchFamily="34" charset="0"/>
              </a:rPr>
              <a:t>Verified API Test: Executed live curl and PowerShell REST tests verifying all 6 endpoints (/api/dispense, /api/batches/verify, /api/temperature-logs, /api/expiry-alerts, /api/dashboard/stats, /api/medicines).</a:t>
            </a:r>
          </a:p>
        </p:txBody>
      </p:sp>
    </p:spTree>
    <p:extLst>
      <p:ext uri="{BB962C8B-B14F-4D97-AF65-F5344CB8AC3E}">
        <p14:creationId xmlns:p14="http://schemas.microsoft.com/office/powerpoint/2010/main" val="2992650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1E499F-B51D-DCA1-9E88-E820EC64803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E825B-EBAD-3651-22D1-B8A7D3F02927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CBE61-AC33-F884-76EA-92567E55733C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Future Enhancements &amp; Scalability Roadmap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D608A7-32C8-CC59-9FAB-EE44186B6170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19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BB36E-5578-E93C-22FE-B5CC2CE6957A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BAB964-E878-A275-F740-8B8723EEA195}"/>
              </a:ext>
            </a:extLst>
          </p:cNvPr>
          <p:cNvSpPr/>
          <p:nvPr/>
        </p:nvSpPr>
        <p:spPr>
          <a:xfrm>
            <a:off x="508000" y="952500"/>
            <a:ext cx="11176000" cy="4064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A9B8C-9E45-9B92-E198-9BFB29215EE9}"/>
              </a:ext>
            </a:extLst>
          </p:cNvPr>
          <p:cNvSpPr txBox="1"/>
          <p:nvPr/>
        </p:nvSpPr>
        <p:spPr>
          <a:xfrm>
            <a:off x="685800" y="1054100"/>
            <a:ext cx="10820400" cy="22313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0F766E"/>
                </a:solidFill>
                <a:latin typeface="Segoe UI" panose="020B0502040204020203" pitchFamily="34" charset="0"/>
              </a:rPr>
              <a:t>These are planned future improvements to expand this academic project for real commercial hospital deployment:</a:t>
            </a:r>
            <a:endParaRPr lang="en-IN" sz="1150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117C28-BC7E-429E-E5F0-DB50F3E5B261}"/>
              </a:ext>
            </a:extLst>
          </p:cNvPr>
          <p:cNvSpPr/>
          <p:nvPr/>
        </p:nvSpPr>
        <p:spPr>
          <a:xfrm>
            <a:off x="508000" y="1460500"/>
            <a:ext cx="355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31B76-D7E4-F5F7-CDDA-59FCD39F4A4A}"/>
              </a:ext>
            </a:extLst>
          </p:cNvPr>
          <p:cNvSpPr txBox="1"/>
          <p:nvPr/>
        </p:nvSpPr>
        <p:spPr>
          <a:xfrm>
            <a:off x="685800" y="15875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1. Barcode / QR Scanning
Integrate camera-based 2D DataMatrix scanning to automatically read batch numbers and expiry dates from boxes.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7B91D-01D3-6034-F0BC-1E9AE59E0F41}"/>
              </a:ext>
            </a:extLst>
          </p:cNvPr>
          <p:cNvSpPr/>
          <p:nvPr/>
        </p:nvSpPr>
        <p:spPr>
          <a:xfrm>
            <a:off x="4318000" y="1460500"/>
            <a:ext cx="355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8AA91C-5827-D76C-FD30-387044C62D13}"/>
              </a:ext>
            </a:extLst>
          </p:cNvPr>
          <p:cNvSpPr txBox="1"/>
          <p:nvPr/>
        </p:nvSpPr>
        <p:spPr>
          <a:xfrm>
            <a:off x="4495800" y="15875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2. Wireless IoT Sensors
Connect real IoT temperature sensors inside medicine refrigerators to broadcast telemetry automatically.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F85B50-08F1-52DD-E53F-6EB64A4F0763}"/>
              </a:ext>
            </a:extLst>
          </p:cNvPr>
          <p:cNvSpPr/>
          <p:nvPr/>
        </p:nvSpPr>
        <p:spPr>
          <a:xfrm>
            <a:off x="8128000" y="1460500"/>
            <a:ext cx="355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9A4624-8C3D-1DB0-AFE8-485D77288E5B}"/>
              </a:ext>
            </a:extLst>
          </p:cNvPr>
          <p:cNvSpPr txBox="1"/>
          <p:nvPr/>
        </p:nvSpPr>
        <p:spPr>
          <a:xfrm>
            <a:off x="8305800" y="15875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3. SMS / Email Alerts
Send immediate automated SMS alerts to the pharmacy manager when temperature excursions occur.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3744B4-9949-8019-ABCE-23593949154F}"/>
              </a:ext>
            </a:extLst>
          </p:cNvPr>
          <p:cNvSpPr/>
          <p:nvPr/>
        </p:nvSpPr>
        <p:spPr>
          <a:xfrm>
            <a:off x="508000" y="3937000"/>
            <a:ext cx="355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6B3D8-9791-FBE7-E5CF-343AB50E70AD}"/>
              </a:ext>
            </a:extLst>
          </p:cNvPr>
          <p:cNvSpPr txBox="1"/>
          <p:nvPr/>
        </p:nvSpPr>
        <p:spPr>
          <a:xfrm>
            <a:off x="685800" y="40640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4. User Login &amp; Roles
Implement Spring Security to provide separate logins for Pharmacists, Storekeepers, and Doctors.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5D90DB-A98A-6218-7D34-B20777F10699}"/>
              </a:ext>
            </a:extLst>
          </p:cNvPr>
          <p:cNvSpPr/>
          <p:nvPr/>
        </p:nvSpPr>
        <p:spPr>
          <a:xfrm>
            <a:off x="4318000" y="3937000"/>
            <a:ext cx="355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7449F2-98BD-5142-4A1D-AEFBF5BC5E8D}"/>
              </a:ext>
            </a:extLst>
          </p:cNvPr>
          <p:cNvSpPr txBox="1"/>
          <p:nvPr/>
        </p:nvSpPr>
        <p:spPr>
          <a:xfrm>
            <a:off x="4495800" y="40640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5. Cloud Deployment
Deploy backend and database on AWS or Render to enable access across multiple hospital branch locations.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6EE317-0842-FD54-B2F1-3876F3B55E7B}"/>
              </a:ext>
            </a:extLst>
          </p:cNvPr>
          <p:cNvSpPr/>
          <p:nvPr/>
        </p:nvSpPr>
        <p:spPr>
          <a:xfrm>
            <a:off x="8128000" y="3937000"/>
            <a:ext cx="355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F2A0C4-F546-4575-CFA5-6F099182BAF7}"/>
              </a:ext>
            </a:extLst>
          </p:cNvPr>
          <p:cNvSpPr txBox="1"/>
          <p:nvPr/>
        </p:nvSpPr>
        <p:spPr>
          <a:xfrm>
            <a:off x="8305800" y="4064000"/>
            <a:ext cx="3200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6. AI Demand Forecasting
Use machine learning models to forecast medicine demand trends based on seasonal illness patterns.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112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8C8A64-AFF2-6398-CCE6-0F188195C93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56163-53F4-9CDE-374F-879D67012E02}"/>
              </a:ext>
            </a:extLst>
          </p:cNvPr>
          <p:cNvSpPr txBox="1"/>
          <p:nvPr/>
        </p:nvSpPr>
        <p:spPr>
          <a:xfrm>
            <a:off x="508000" y="2032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1000" b="1">
                <a:solidFill>
                  <a:srgbClr val="0D9488"/>
                </a:solidFill>
                <a:latin typeface="Segoe UI" panose="020B0502040204020203" pitchFamily="34" charset="0"/>
              </a:rPr>
              <a:t>SUMMARY &amp;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C6D66-42AB-62E5-8B6B-833ECEF886AA}"/>
              </a:ext>
            </a:extLst>
          </p:cNvPr>
          <p:cNvSpPr txBox="1"/>
          <p:nvPr/>
        </p:nvSpPr>
        <p:spPr>
          <a:xfrm>
            <a:off x="508000" y="457200"/>
            <a:ext cx="9525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000" b="1">
                <a:solidFill>
                  <a:srgbClr val="0F172A"/>
                </a:solidFill>
                <a:latin typeface="Segoe UI" panose="020B0502040204020203" pitchFamily="34" charset="0"/>
              </a:rPr>
              <a:t>Conclusion &amp; Viva Defense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7FF582-B30B-A15D-9FED-0E1EEE273F84}"/>
              </a:ext>
            </a:extLst>
          </p:cNvPr>
          <p:cNvSpPr/>
          <p:nvPr/>
        </p:nvSpPr>
        <p:spPr>
          <a:xfrm>
            <a:off x="10414000" y="279400"/>
            <a:ext cx="1270000" cy="3048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64748B"/>
                </a:solidFill>
                <a:latin typeface="Segoe UI" panose="020B0502040204020203" pitchFamily="34" charset="0"/>
              </a:rPr>
              <a:t>Slide 20 /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0A8B51-DBF5-D846-1CE5-1A7A1C68CA2F}"/>
              </a:ext>
            </a:extLst>
          </p:cNvPr>
          <p:cNvSpPr txBox="1"/>
          <p:nvPr/>
        </p:nvSpPr>
        <p:spPr>
          <a:xfrm>
            <a:off x="508000" y="6527800"/>
            <a:ext cx="11176000" cy="2308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Segoe UI" panose="020B0502040204020203" pitchFamily="34" charset="0"/>
              </a:rPr>
              <a:t>Smart Pharmacy Supply Chain System | Final Year Capstone Project</a:t>
            </a:r>
            <a:endParaRPr lang="en-IN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758DC-6C2F-DFDB-A359-05A50C162E14}"/>
              </a:ext>
            </a:extLst>
          </p:cNvPr>
          <p:cNvSpPr/>
          <p:nvPr/>
        </p:nvSpPr>
        <p:spPr>
          <a:xfrm>
            <a:off x="508000" y="1079500"/>
            <a:ext cx="5461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BFB9DB-CDA3-8FA2-A70D-0098B09F8598}"/>
              </a:ext>
            </a:extLst>
          </p:cNvPr>
          <p:cNvSpPr txBox="1"/>
          <p:nvPr/>
        </p:nvSpPr>
        <p:spPr>
          <a:xfrm>
            <a:off x="685800" y="1206500"/>
            <a:ext cx="5105400" cy="18004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Project Conclusion
- Successfully built a full-stack pharmacy supply chain simulator.
- Enforces strict FEFO dispensing to reduce drug expiry losses.
- Monitors cold-chain compliance to safeguard sensitive medicines.
- Protects against counterfeit batches with 1-click verification.</a:t>
            </a:r>
            <a:endParaRPr lang="en-IN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D80435-C6EB-5862-10B2-2475EE3E48E1}"/>
              </a:ext>
            </a:extLst>
          </p:cNvPr>
          <p:cNvSpPr/>
          <p:nvPr/>
        </p:nvSpPr>
        <p:spPr>
          <a:xfrm>
            <a:off x="6223000" y="1079500"/>
            <a:ext cx="5461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BCBC3-869D-F8E5-F224-DFE6AA90DDED}"/>
              </a:ext>
            </a:extLst>
          </p:cNvPr>
          <p:cNvSpPr txBox="1"/>
          <p:nvPr/>
        </p:nvSpPr>
        <p:spPr>
          <a:xfrm>
            <a:off x="6400800" y="1206500"/>
            <a:ext cx="5105400" cy="20005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300" b="1">
                <a:solidFill>
                  <a:srgbClr val="0F172A"/>
                </a:solidFill>
                <a:latin typeface="Segoe UI" panose="020B0502040204020203" pitchFamily="34" charset="0"/>
              </a:rPr>
              <a:t>What We Learned
- Developing clean REST APIs using Java Spring Boot 3.
- Managing 3NF database persistence with Spring Data JPA.
- Creating responsive clinical user interfaces with HTML5 &amp; CSS3.
- Wiring frontend &amp; backend using JavaScript Fetch API.
- Systematic debugging of CORS and HTTP error status codes.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D48713-97FF-5A14-8341-4683EBCFF534}"/>
              </a:ext>
            </a:extLst>
          </p:cNvPr>
          <p:cNvSpPr/>
          <p:nvPr/>
        </p:nvSpPr>
        <p:spPr>
          <a:xfrm>
            <a:off x="508000" y="4572000"/>
            <a:ext cx="11176000" cy="1714500"/>
          </a:xfrm>
          <a:prstGeom prst="rect">
            <a:avLst/>
          </a:prstGeom>
          <a:solidFill>
            <a:srgbClr val="F0FDFA"/>
          </a:solidFill>
          <a:ln w="2540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BF3DE-2FA3-3994-078F-DB717DE56A10}"/>
              </a:ext>
            </a:extLst>
          </p:cNvPr>
          <p:cNvSpPr txBox="1"/>
          <p:nvPr/>
        </p:nvSpPr>
        <p:spPr>
          <a:xfrm>
            <a:off x="762000" y="4889500"/>
            <a:ext cx="10668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0F766E"/>
                </a:solidFill>
                <a:latin typeface="Segoe UI" panose="020B0502040204020203" pitchFamily="34" charset="0"/>
              </a:rPr>
              <a:t>Thank You!
We are now ready to answer questions from respected examiners.</a:t>
            </a:r>
            <a:endParaRPr lang="en-IN" sz="2400" b="1">
              <a:solidFill>
                <a:srgbClr val="0F766E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313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3436</Words>
  <Application>Microsoft Office PowerPoint</Application>
  <PresentationFormat>Widescreen</PresentationFormat>
  <Paragraphs>285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Shudiksha Sugeerthanaa M</dc:creator>
  <cp:lastModifiedBy>Shudiksha Sugeerthanaa M</cp:lastModifiedBy>
  <cp:revision>1</cp:revision>
  <dcterms:created xsi:type="dcterms:W3CDTF">2026-09-18T13:35:16Z</dcterms:created>
  <dcterms:modified xsi:type="dcterms:W3CDTF">2026-09-18T13:39:24Z</dcterms:modified>
</cp:coreProperties>
</file>